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9" r:id="rId3"/>
    <p:sldMasterId id="2147483670" r:id="rId4"/>
  </p:sldMasterIdLst>
  <p:notesMasterIdLst>
    <p:notesMasterId r:id="rId6"/>
  </p:notesMasterIdLst>
  <p:handoutMasterIdLst>
    <p:handoutMasterId r:id="rId25"/>
  </p:handoutMasterIdLst>
  <p:sldIdLst>
    <p:sldId id="13436" r:id="rId5"/>
    <p:sldId id="13437" r:id="rId7"/>
    <p:sldId id="13463" r:id="rId8"/>
    <p:sldId id="13438" r:id="rId9"/>
    <p:sldId id="13439" r:id="rId10"/>
    <p:sldId id="13445" r:id="rId11"/>
    <p:sldId id="13470" r:id="rId12"/>
    <p:sldId id="13451" r:id="rId13"/>
    <p:sldId id="13461" r:id="rId14"/>
    <p:sldId id="13471" r:id="rId15"/>
    <p:sldId id="13472" r:id="rId16"/>
    <p:sldId id="13449" r:id="rId17"/>
    <p:sldId id="13452" r:id="rId18"/>
    <p:sldId id="13465" r:id="rId19"/>
    <p:sldId id="13450" r:id="rId20"/>
    <p:sldId id="13469" r:id="rId21"/>
    <p:sldId id="13440" r:id="rId22"/>
    <p:sldId id="13464" r:id="rId23"/>
    <p:sldId id="13458" r:id="rId24"/>
  </p:sldIdLst>
  <p:sldSz cx="12190095" cy="6859270"/>
  <p:notesSz cx="6744970" cy="9881870"/>
  <p:custDataLst>
    <p:tags r:id="rId3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4195" algn="l" rtl="0" fontAlgn="base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8390" algn="l" rtl="0" fontAlgn="base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2585" algn="l" rtl="0" fontAlgn="base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6780" algn="l" rtl="0" fontAlgn="base">
      <a:spcBef>
        <a:spcPct val="0"/>
      </a:spcBef>
      <a:spcAft>
        <a:spcPct val="0"/>
      </a:spcAft>
      <a:defRPr b="1"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720975" algn="l" defTabSz="1088390" rtl="0" eaLnBrk="1" latinLnBrk="0" hangingPunct="1">
      <a:defRPr b="1"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3265805" algn="l" defTabSz="1088390" rtl="0" eaLnBrk="1" latinLnBrk="0" hangingPunct="1">
      <a:defRPr b="1"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810000" algn="l" defTabSz="1088390" rtl="0" eaLnBrk="1" latinLnBrk="0" hangingPunct="1">
      <a:defRPr b="1"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4354195" algn="l" defTabSz="1088390" rtl="0" eaLnBrk="1" latinLnBrk="0" hangingPunct="1">
      <a:defRPr b="1"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d1ad595-6fe6-4e3a-a6b5-01b908f2716a}">
          <p14:sldIdLst>
            <p14:sldId id="13436"/>
            <p14:sldId id="13437"/>
            <p14:sldId id="13463"/>
            <p14:sldId id="13438"/>
            <p14:sldId id="13439"/>
            <p14:sldId id="13445"/>
            <p14:sldId id="13470"/>
            <p14:sldId id="13451"/>
            <p14:sldId id="13461"/>
            <p14:sldId id="13471"/>
            <p14:sldId id="13472"/>
            <p14:sldId id="13449"/>
            <p14:sldId id="13452"/>
            <p14:sldId id="13465"/>
            <p14:sldId id="13450"/>
            <p14:sldId id="13469"/>
            <p14:sldId id="13440"/>
            <p14:sldId id="13464"/>
            <p14:sldId id="134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49" userDrawn="1">
          <p15:clr>
            <a:srgbClr val="A4A3A4"/>
          </p15:clr>
        </p15:guide>
        <p15:guide id="2" pos="20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2" clrIdx="1"/>
  <p:cmAuthor id="1" name="Administrator" initials="WU" lastIdx="1" clrIdx="0"/>
  <p:cmAuthor id="0" name="王海清" initials="" lastIdx="1" clrIdx="0"/>
  <p:cmAuthor id="4" name=" " initials="" lastIdx="1" clrIdx="3"/>
  <p:cmAuthor id="5" name="江武" initials="江" lastIdx="1" clrIdx="4"/>
  <p:cmAuthor id="6" name="13579" initials="1" lastIdx="10" clrIdx="5"/>
  <p:cmAuthor id="7" name="lmj12" initials="l" lastIdx="3" clrIdx="6"/>
  <p:cmAuthor id="8" name="姜伟光" initials="姜" lastIdx="1" clrIdx="0"/>
  <p:cmAuthor id="3" name="lenovo" initials="l" lastIdx="6" clrIdx="2"/>
  <p:cmAuthor id="9" name="鲜凌凯" initials="鲜凌凯" lastIdx="1" clrIdx="7"/>
  <p:cmAuthor id="10" name="liuwenting5" initials="liuwenting5" lastIdx="1" clrIdx="9"/>
  <p:cmAuthor id="12" name="集客部" initials="集" lastIdx="1" clrIdx="11"/>
  <p:cmAuthor id="13" name="A" initials="A" lastIdx="2" clrIdx="12"/>
  <p:cmAuthor id="11" name="林宏" initials="林宏" lastIdx="1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A24D"/>
    <a:srgbClr val="DFEB1D"/>
    <a:srgbClr val="FFF709"/>
    <a:srgbClr val="4CF377"/>
    <a:srgbClr val="FFFFFF"/>
    <a:srgbClr val="9EB11A"/>
    <a:srgbClr val="BE0826"/>
    <a:srgbClr val="000000"/>
    <a:srgbClr val="5E73F6"/>
    <a:srgbClr val="C7C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88" autoAdjust="0"/>
    <p:restoredTop sz="92399" autoAdjust="0"/>
  </p:normalViewPr>
  <p:slideViewPr>
    <p:cSldViewPr showGuides="1">
      <p:cViewPr varScale="1">
        <p:scale>
          <a:sx n="83" d="100"/>
          <a:sy n="83" d="100"/>
        </p:scale>
        <p:origin x="240" y="84"/>
      </p:cViewPr>
      <p:guideLst>
        <p:guide orient="horz" pos="2249"/>
        <p:guide pos="20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5106"/>
    </p:cViewPr>
  </p:sorterViewPr>
  <p:notesViewPr>
    <p:cSldViewPr>
      <p:cViewPr varScale="1">
        <p:scale>
          <a:sx n="53" d="100"/>
          <a:sy n="53" d="100"/>
        </p:scale>
        <p:origin x="-1878" y="-102"/>
      </p:cViewPr>
      <p:guideLst>
        <p:guide orient="horz" pos="3240"/>
        <p:guide pos="1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0" Type="http://schemas.openxmlformats.org/officeDocument/2006/relationships/tags" Target="tags/tag114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&#24037;&#20316;&#31807;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&#24037;&#20316;&#31807;1" TargetMode="External"/></Relationships>
</file>

<file path=ppt/charts/_rels/chart3.xml.rels><?xml version="1.0" encoding="UTF-8" standalone="yes"?>
<Relationships xmlns="http://schemas.openxmlformats.org/package/2006/relationships"><Relationship Id="rId5" Type="http://schemas.microsoft.com/office/2011/relationships/chartColorStyle" Target="colors3.xml"/><Relationship Id="rId4" Type="http://schemas.microsoft.com/office/2011/relationships/chartStyle" Target="style3.xml"/><Relationship Id="rId3" Type="http://schemas.openxmlformats.org/officeDocument/2006/relationships/image" Target="../media/image6.png"/><Relationship Id="rId2" Type="http://schemas.openxmlformats.org/officeDocument/2006/relationships/themeOverride" Target="../theme/themeOverride1.xml"/><Relationship Id="rId1" Type="http://schemas.openxmlformats.org/officeDocument/2006/relationships/oleObject" Target="&#24037;&#20316;&#31807;2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&#24037;&#20316;&#31807;3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&#24037;&#20316;&#31807;3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[工作簿1]Sheet1!$C$1</c:f>
              <c:strCache>
                <c:ptCount val="1"/>
                <c:pt idx="0">
                  <c:v>金额（亿元）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5E73F6">
                  <a:alpha val="96000"/>
                </a:srgb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FF0000">
                  <a:alpha val="78000"/>
                </a:srgb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00B050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FFFF00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[工作簿1]Sheet1!$A$2:$B$5</c:f>
              <c:multiLvlStrCache>
                <c:ptCount val="4"/>
                <c:lvl>
                  <c:pt idx="0">
                    <c:v>中标项目</c:v>
                  </c:pt>
                  <c:pt idx="1">
                    <c:v>内外部协同</c:v>
                  </c:pt>
                  <c:pt idx="2">
                    <c:v>未中标项目</c:v>
                  </c:pt>
                  <c:pt idx="3">
                    <c:v>弃标项目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[工作簿1]Sheet1!$C$2:$C$5</c:f>
              <c:numCache>
                <c:formatCode>0.00_ </c:formatCode>
                <c:ptCount val="4"/>
                <c:pt idx="0">
                  <c:v>1.28</c:v>
                </c:pt>
                <c:pt idx="1">
                  <c:v>7.7</c:v>
                </c:pt>
                <c:pt idx="2">
                  <c:v>3.1</c:v>
                </c:pt>
                <c:pt idx="3">
                  <c:v>3.61</c:v>
                </c:pt>
              </c:numCache>
            </c:numRef>
          </c:val>
        </c:ser>
        <c:ser>
          <c:idx val="1"/>
          <c:order val="1"/>
          <c:tx>
            <c:strRef>
              <c:f>[工作簿1]Sheet1!$D$1</c:f>
              <c:strCache>
                <c:ptCount val="1"/>
                <c:pt idx="0">
                  <c:v>百分比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[工作簿1]Sheet1!$A$2:$B$5</c:f>
              <c:multiLvlStrCache>
                <c:ptCount val="4"/>
                <c:lvl>
                  <c:pt idx="0">
                    <c:v>中标项目</c:v>
                  </c:pt>
                  <c:pt idx="1">
                    <c:v>内外部协同</c:v>
                  </c:pt>
                  <c:pt idx="2">
                    <c:v>未中标项目</c:v>
                  </c:pt>
                  <c:pt idx="3">
                    <c:v>弃标项目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[工作簿1]Sheet1!$D$2:$D$5</c:f>
              <c:numCache>
                <c:formatCode>0.00%</c:formatCode>
                <c:ptCount val="4"/>
                <c:pt idx="0">
                  <c:v>0.0816326530612245</c:v>
                </c:pt>
                <c:pt idx="1">
                  <c:v>0.491071428571429</c:v>
                </c:pt>
                <c:pt idx="2">
                  <c:v>0.197704081632653</c:v>
                </c:pt>
                <c:pt idx="3">
                  <c:v>0.230229591836735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515e83b-0aaa-4ab4-accb-76c3e324c0b0}"/>
      </c:ext>
    </c:extLst>
  </c:chart>
  <c:spPr>
    <a:noFill/>
    <a:ln>
      <a:noFill/>
    </a:ln>
    <a:effectLst/>
  </c:spPr>
  <c:txPr>
    <a:bodyPr/>
    <a:lstStyle/>
    <a:p>
      <a:pPr>
        <a:defRPr lang="zh-CN" sz="1400">
          <a:solidFill>
            <a:srgbClr val="002060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045"/>
          <c:y val="0.0715304182509506"/>
          <c:w val="0.905263157894737"/>
          <c:h val="0.737642585551331"/>
        </c:manualLayout>
      </c:layout>
      <c:pie3DChart>
        <c:varyColors val="1"/>
        <c:ser>
          <c:idx val="0"/>
          <c:order val="0"/>
          <c:tx>
            <c:strRef>
              <c:f>[工作簿1]Sheet1!$B$1</c:f>
              <c:strCache>
                <c:ptCount val="1"/>
                <c:pt idx="0">
                  <c:v>金额（万元）</c:v>
                </c:pt>
              </c:strCache>
            </c:strRef>
          </c:tx>
          <c:spPr>
            <a:solidFill>
              <a:srgbClr val="00B050"/>
            </a:solidFill>
            <a:scene3d>
              <a:camera prst="orthographicFront"/>
              <a:lightRig rig="threePt" dir="t"/>
            </a:scene3d>
            <a:sp3d contourW="9525"/>
          </c:spPr>
          <c:explosion val="0"/>
          <c:dPt>
            <c:idx val="0"/>
            <c:bubble3D val="0"/>
            <c:spPr>
              <a:solidFill>
                <a:srgbClr val="5E73F6">
                  <a:alpha val="94000"/>
                </a:srgbClr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1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Lbls>
            <c:dLbl>
              <c:idx val="0"/>
              <c:layout>
                <c:manualLayout>
                  <c:x val="0.0761991702158329"/>
                  <c:y val="-0.20444364698856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6578947368421"/>
                      <c:h val="0.174647235715938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459210526315789"/>
                  <c:y val="0.029666238327312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3684210526316"/>
                      <c:h val="0.220680083275503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[工作簿1]Sheet1!$A$2:$A$3</c:f>
              <c:strCache>
                <c:ptCount val="2"/>
                <c:pt idx="0">
                  <c:v>自主拓展</c:v>
                </c:pt>
                <c:pt idx="1">
                  <c:v>合作拓展</c:v>
                </c:pt>
              </c:strCache>
            </c:strRef>
          </c:cat>
          <c:val>
            <c:numRef>
              <c:f>[工作簿1]Sheet1!$B$2:$B$3</c:f>
              <c:numCache>
                <c:formatCode>General</c:formatCode>
                <c:ptCount val="2"/>
                <c:pt idx="0">
                  <c:v>1.19</c:v>
                </c:pt>
                <c:pt idx="1">
                  <c:v>0.42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</c:dLbls>
      </c:pie3D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294210526315789"/>
          <c:y val="0.84268060836501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28f8759-d6da-4585-9d49-bb5bb7ed4128}"/>
      </c:ext>
    </c:extLst>
  </c:chart>
  <c:spPr>
    <a:solidFill>
      <a:schemeClr val="accent5">
        <a:lumMod val="20000"/>
        <a:lumOff val="80000"/>
        <a:alpha val="7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1400">
          <a:solidFill>
            <a:srgbClr val="000000"/>
          </a:solidFill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409751128404763"/>
          <c:y val="0.0326821476839907"/>
          <c:w val="0.766602891727023"/>
          <c:h val="0.6665929475365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[工作簿2]Sheet1!$D$4</c:f>
              <c:strCache>
                <c:ptCount val="1"/>
                <c:pt idx="0">
                  <c:v>金额（万元）</c:v>
                </c:pt>
              </c:strCache>
            </c:strRef>
          </c:tx>
          <c:spPr>
            <a:blipFill rotWithShape="1">
              <a:blip xmlns:r="http://schemas.openxmlformats.org/officeDocument/2006/relationships" r:embed="rId3">
                <a:duotone>
                  <a:schemeClr val="accent1"/>
                  <a:prstClr val="white"/>
                </a:duotone>
              </a:blip>
              <a:stretch>
                <a:fillRect/>
              </a:stretch>
            </a:blip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[工作簿2]Sheet1!$C$5:$C$14</c:f>
              <c:strCache>
                <c:ptCount val="10"/>
                <c:pt idx="0">
                  <c:v>数字政府</c:v>
                </c:pt>
                <c:pt idx="1">
                  <c:v>数据中心（云）</c:v>
                </c:pt>
                <c:pt idx="2">
                  <c:v>其它（教育、政府）</c:v>
                </c:pt>
                <c:pt idx="3">
                  <c:v>大应急</c:v>
                </c:pt>
                <c:pt idx="4">
                  <c:v>智慧教育</c:v>
                </c:pt>
                <c:pt idx="5">
                  <c:v>智慧农业</c:v>
                </c:pt>
                <c:pt idx="6">
                  <c:v>要客</c:v>
                </c:pt>
                <c:pt idx="7">
                  <c:v>智慧建筑</c:v>
                </c:pt>
                <c:pt idx="8">
                  <c:v>智慧交通</c:v>
                </c:pt>
                <c:pt idx="9">
                  <c:v>用能服务</c:v>
                </c:pt>
              </c:strCache>
            </c:strRef>
          </c:cat>
          <c:val>
            <c:numRef>
              <c:f>[工作簿2]Sheet1!$D$5:$D$14</c:f>
              <c:numCache>
                <c:formatCode>General</c:formatCode>
                <c:ptCount val="10"/>
                <c:pt idx="0">
                  <c:v>5063</c:v>
                </c:pt>
                <c:pt idx="1">
                  <c:v>2833</c:v>
                </c:pt>
                <c:pt idx="2">
                  <c:v>1789</c:v>
                </c:pt>
                <c:pt idx="3">
                  <c:v>1541</c:v>
                </c:pt>
                <c:pt idx="4">
                  <c:v>1311</c:v>
                </c:pt>
                <c:pt idx="5">
                  <c:v>1293</c:v>
                </c:pt>
                <c:pt idx="6">
                  <c:v>1181</c:v>
                </c:pt>
                <c:pt idx="7">
                  <c:v>848</c:v>
                </c:pt>
                <c:pt idx="8">
                  <c:v>152</c:v>
                </c:pt>
                <c:pt idx="9">
                  <c:v>107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11188404"/>
        <c:axId val="185177905"/>
      </c:barChart>
      <c:catAx>
        <c:axId val="111884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50000"/>
                  <a:lumOff val="50000"/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85177905"/>
        <c:crosses val="autoZero"/>
        <c:auto val="1"/>
        <c:lblAlgn val="ctr"/>
        <c:lblOffset val="100"/>
        <c:noMultiLvlLbl val="0"/>
      </c:catAx>
      <c:valAx>
        <c:axId val="185177905"/>
        <c:scaling>
          <c:orientation val="minMax"/>
        </c:scaling>
        <c:delete val="1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11188404"/>
        <c:crosses val="autoZero"/>
        <c:crossBetween val="between"/>
      </c:valAx>
      <c:spPr>
        <a:noFill/>
        <a:ln w="12700" cmpd="sng">
          <a:noFill/>
          <a:prstDash val="sysDot"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821883878487652"/>
          <c:y val="0.62986853421796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4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60fc26f-881b-4c12-bb2d-4d218c22c219}"/>
      </c:ext>
    </c:extLst>
  </c:chart>
  <c:spPr>
    <a:solidFill>
      <a:srgbClr val="846E4F">
        <a:lumMod val="20000"/>
        <a:lumOff val="80000"/>
        <a:alpha val="9000"/>
      </a:srgbClr>
    </a:solidFill>
    <a:ln w="6350" cap="flat" cmpd="sng" algn="ctr">
      <a:solidFill>
        <a:schemeClr val="tx1">
          <a:lumMod val="50000"/>
          <a:lumOff val="50000"/>
          <a:alpha val="15000"/>
        </a:schemeClr>
      </a:solidFill>
      <a:round/>
    </a:ln>
    <a:effectLst/>
  </c:spPr>
  <c:txPr>
    <a:bodyPr/>
    <a:lstStyle/>
    <a:p>
      <a:pPr>
        <a:defRPr lang="zh-CN" sz="14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accent6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>
                <a:solidFill>
                  <a:schemeClr val="accent6">
                    <a:lumMod val="25000"/>
                  </a:schemeClr>
                </a:solidFill>
              </a:rPr>
              <a:t>内部合作</a:t>
            </a:r>
            <a:endParaRPr>
              <a:solidFill>
                <a:schemeClr val="accent6">
                  <a:lumMod val="25000"/>
                </a:schemeClr>
              </a:solidFill>
            </a:endParaRPr>
          </a:p>
        </c:rich>
      </c:tx>
      <c:layout>
        <c:manualLayout>
          <c:xMode val="edge"/>
          <c:yMode val="edge"/>
          <c:x val="0.387864366448543"/>
          <c:y val="0.0229240957717779"/>
        </c:manualLayout>
      </c:layout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119002644503211"/>
          <c:y val="0.119987566055331"/>
          <c:w val="0.710238005289006"/>
          <c:h val="0.731115946534038"/>
        </c:manualLayout>
      </c:layout>
      <c:pie3DChart>
        <c:varyColors val="1"/>
        <c:ser>
          <c:idx val="0"/>
          <c:order val="0"/>
          <c:tx>
            <c:strRef>
              <c:f>[工作簿3]Sheet1!$C$1</c:f>
              <c:strCache>
                <c:ptCount val="1"/>
                <c:pt idx="0">
                  <c:v>新签合同(万）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 contourW="9525"/>
          </c:spPr>
          <c:explosion val="0"/>
          <c:dPt>
            <c:idx val="0"/>
            <c:bubble3D val="0"/>
            <c:spPr>
              <a:solidFill>
                <a:srgbClr val="5E73F6">
                  <a:alpha val="86000"/>
                </a:srgbClr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1"/>
            <c:bubble3D val="0"/>
            <c:spPr>
              <a:solidFill>
                <a:schemeClr val="accent1">
                  <a:lumMod val="40000"/>
                  <a:lumOff val="60000"/>
                  <a:alpha val="95000"/>
                </a:schemeClr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2"/>
            <c:bubble3D val="0"/>
            <c:spPr>
              <a:solidFill>
                <a:srgbClr val="FFC000">
                  <a:alpha val="93000"/>
                </a:srgbClr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3"/>
            <c:bubble3D val="0"/>
            <c:spPr>
              <a:solidFill>
                <a:srgbClr val="0EA24D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4"/>
            <c:bubble3D val="0"/>
            <c:spPr>
              <a:solidFill>
                <a:srgbClr val="FF0000"/>
              </a:solidFill>
              <a:ln>
                <a:solidFill>
                  <a:schemeClr val="bg1"/>
                </a:solidFill>
              </a:ln>
              <a:effectLst/>
              <a:scene3d>
                <a:camera prst="orthographicFront"/>
                <a:lightRig rig="threePt" dir="t"/>
              </a:scene3d>
              <a:sp3d contourW="9525"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000" b="0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t>北疆45.24%</a:t>
                    </a:r>
                  </a:p>
                </c:rich>
              </c:tx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8024509220702"/>
                      <c:h val="0.0967013888888889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"/>
                  <c:y val="-0.00277777777777778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000" b="0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t>一事23.36%</a:t>
                    </a:r>
                  </a:p>
                </c:rich>
              </c:tx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77865556216538"/>
                      <c:h val="0.090104166666666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188912473008737"/>
                  <c:y val="0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000" b="0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t>政企16.76%</a:t>
                    </a:r>
                  </a:p>
                </c:rich>
              </c:tx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01961311236578"/>
                      <c:h val="0.0964815603551452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-0.0133254015466984"/>
                  <c:y val="-0.00277777777777778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000" b="0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t>网技14.16%</a:t>
                    </a:r>
                  </a:p>
                </c:rich>
              </c:tx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75842950624628"/>
                      <c:h val="0.0967013888888889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0.0316478286734087"/>
                  <c:y val="0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000" b="0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t>第五0.49%</a:t>
                    </a:r>
                  </a:p>
                </c:rich>
              </c:tx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67038667459845"/>
                      <c:h val="0.0875"/>
                    </c:manualLayout>
                  </c15:layout>
                </c:ext>
              </c:extLst>
            </c:dLbl>
            <c:numFmt formatCode="0.00%" sourceLinked="0"/>
            <c:spPr>
              <a:solidFill>
                <a:schemeClr val="accent6">
                  <a:alpha val="17000"/>
                </a:schemeClr>
              </a:solidFill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[工作簿3]Sheet1!$B$2:$B$6</c:f>
              <c:strCache>
                <c:ptCount val="5"/>
                <c:pt idx="0">
                  <c:v>北疆</c:v>
                </c:pt>
                <c:pt idx="1">
                  <c:v>一事</c:v>
                </c:pt>
                <c:pt idx="2">
                  <c:v>政企</c:v>
                </c:pt>
                <c:pt idx="3">
                  <c:v>网技</c:v>
                </c:pt>
                <c:pt idx="4">
                  <c:v>第五</c:v>
                </c:pt>
              </c:strCache>
            </c:strRef>
          </c:cat>
          <c:val>
            <c:numRef>
              <c:f>[工作簿3]Sheet1!$C$2:$C$6</c:f>
              <c:numCache>
                <c:formatCode>0.00_ </c:formatCode>
                <c:ptCount val="5"/>
                <c:pt idx="0">
                  <c:v>6317</c:v>
                </c:pt>
                <c:pt idx="1">
                  <c:v>3262</c:v>
                </c:pt>
                <c:pt idx="2">
                  <c:v>2340</c:v>
                </c:pt>
                <c:pt idx="3">
                  <c:v>1977</c:v>
                </c:pt>
                <c:pt idx="4">
                  <c:v>68.3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</c:dLbls>
      </c:pie3D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8420609063716"/>
          <c:y val="0.88166343695545"/>
          <c:w val="0.504920379316515"/>
          <c:h val="0.081878088962108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1850ab-ab2e-4666-b73e-aaa57102b47c}"/>
      </c:ext>
    </c:extLst>
  </c:chart>
  <c:spPr>
    <a:noFill/>
    <a:ln w="12700" cap="flat" cmpd="sng" algn="ctr">
      <a:solidFill>
        <a:schemeClr val="accent1"/>
      </a:solidFill>
      <a:prstDash val="sysDot"/>
      <a:round/>
    </a:ln>
    <a:effectLst/>
  </c:spPr>
  <c:txPr>
    <a:bodyPr/>
    <a:lstStyle/>
    <a:p>
      <a:pPr>
        <a:defRPr lang="zh-CN">
          <a:solidFill>
            <a:sysClr val="windowText" lastClr="000000"/>
          </a:solidFill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accent6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>
                <a:solidFill>
                  <a:schemeClr val="accent6">
                    <a:lumMod val="25000"/>
                  </a:schemeClr>
                </a:solidFill>
              </a:rPr>
              <a:t>业务分类</a:t>
            </a:r>
            <a:endParaRPr sz="1440">
              <a:solidFill>
                <a:schemeClr val="accent6">
                  <a:lumMod val="25000"/>
                </a:schemeClr>
              </a:solidFill>
            </a:endParaRPr>
          </a:p>
        </c:rich>
      </c:tx>
      <c:layout>
        <c:manualLayout>
          <c:xMode val="edge"/>
          <c:yMode val="edge"/>
          <c:x val="0.426859402026192"/>
          <c:y val="0.0200959123087463"/>
        </c:manualLayout>
      </c:layout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0855075287372317"/>
          <c:y val="0.238611054525701"/>
          <c:w val="0.910526315789474"/>
          <c:h val="0.722453703703704"/>
        </c:manualLayout>
      </c:layout>
      <c:pie3DChart>
        <c:varyColors val="1"/>
        <c:ser>
          <c:idx val="0"/>
          <c:order val="0"/>
          <c:tx>
            <c:strRef>
              <c:f>[工作簿3]Sheet1!$C$18</c:f>
              <c:strCache>
                <c:ptCount val="1"/>
                <c:pt idx="0">
                  <c:v>金额（万元）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3600000" scaled="0"/>
            </a:gradFill>
            <a:scene3d>
              <a:camera prst="orthographicFront"/>
              <a:lightRig rig="threePt" dir="t"/>
            </a:scene3d>
            <a:sp3d contourW="9525"/>
          </c:spPr>
          <c:explosion val="0"/>
          <c:dPt>
            <c:idx val="0"/>
            <c:bubble3D val="0"/>
            <c:spPr>
              <a:gradFill>
                <a:gsLst>
                  <a:gs pos="0">
                    <a:schemeClr val="bg1">
                      <a:lumMod val="62000"/>
                    </a:schemeClr>
                  </a:gs>
                  <a:gs pos="90000">
                    <a:srgbClr val="00B0F0"/>
                  </a:gs>
                </a:gsLst>
                <a:lin ang="3600000" scaled="0"/>
              </a:gradFill>
              <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1"/>
            <c:bubble3D val="0"/>
            <c:spPr>
              <a:gradFill>
                <a:gsLst>
                  <a:gs pos="0">
                    <a:schemeClr val="bg1">
                      <a:lumMod val="68000"/>
                    </a:schemeClr>
                  </a:gs>
                  <a:gs pos="86000">
                    <a:srgbClr val="C00000"/>
                  </a:gs>
                </a:gsLst>
                <a:lin ang="3600000" scaled="0"/>
              </a:gradFill>
              <a:ln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2"/>
            <c:bubble3D val="0"/>
            <c:spPr>
              <a:gradFill>
                <a:gsLst>
                  <a:gs pos="0">
                    <a:schemeClr val="bg2">
                      <a:lumMod val="68000"/>
                    </a:schemeClr>
                  </a:gs>
                  <a:gs pos="90000">
                    <a:srgbClr val="FFC000"/>
                  </a:gs>
                </a:gsLst>
                <a:lin ang="3600000" scaled="0"/>
              </a:gradFill>
              <a:ln>
                <a:gradFill>
                  <a:gsLst>
                    <a:gs pos="0">
                      <a:schemeClr val="accent3"/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9525"/>
            </c:spPr>
          </c:dPt>
          <c:dPt>
            <c:idx val="3"/>
            <c:bubble3D val="0"/>
            <c:spPr>
              <a:gradFill>
                <a:gsLst>
                  <a:gs pos="0">
                    <a:schemeClr val="accent4">
                      <a:lumMod val="40000"/>
                      <a:lumOff val="60000"/>
                    </a:schemeClr>
                  </a:gs>
                  <a:gs pos="90000">
                    <a:schemeClr val="accent4"/>
                  </a:gs>
                </a:gsLst>
                <a:lin ang="3600000" scaled="0"/>
              </a:gradFill>
              <a:ln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9525"/>
            </c:spPr>
          </c:dPt>
          <c:dLbls>
            <c:dLbl>
              <c:idx val="0"/>
              <c:layout>
                <c:manualLayout>
                  <c:x val="0.00605263157894737"/>
                  <c:y val="0.021990740740740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200" b="0" i="0" u="none" strike="noStrike" kern="1200" baseline="0">
                        <a:solidFill>
                          <a:schemeClr val="accent6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200">
                        <a:solidFill>
                          <a:schemeClr val="accent6">
                            <a:lumMod val="25000"/>
                          </a:schemeClr>
                        </a:solidFill>
                      </a:rPr>
                      <a:t>产数39%</a:t>
                    </a:r>
                    <a:endParaRPr sz="1200">
                      <a:solidFill>
                        <a:schemeClr val="accent6">
                          <a:lumMod val="25000"/>
                        </a:schemeClr>
                      </a:solid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chemeClr val="accent6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79994736842105"/>
                      <c:h val="0.132638888888889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246052631578947"/>
                  <c:y val="0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200" b="0" i="0" u="none" strike="noStrike" kern="1200" baseline="0">
                        <a:solidFill>
                          <a:schemeClr val="accent6">
                            <a:lumMod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200">
                        <a:solidFill>
                          <a:schemeClr val="accent6">
                            <a:lumMod val="25000"/>
                          </a:schemeClr>
                        </a:solidFill>
                      </a:rPr>
                      <a:t>两翼8%</a:t>
                    </a:r>
                    <a:endParaRPr sz="1200">
                      <a:solidFill>
                        <a:schemeClr val="accent6">
                          <a:lumMod val="25000"/>
                        </a:schemeClr>
                      </a:solidFill>
                    </a:endParaRPr>
                  </a:p>
                </c:rich>
              </c:tx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51098947368421"/>
                      <c:h val="0.102314814814815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0407894736842105"/>
                  <c:y val="-0.0541666666666667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chemeClr val="accent6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chemeClr val="accent6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1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accent6">
                        <a:lumMod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[工作簿3]Sheet1!$B$19:$B$22</c:f>
              <c:strCache>
                <c:ptCount val="4"/>
                <c:pt idx="0">
                  <c:v>产数</c:v>
                </c:pt>
                <c:pt idx="1">
                  <c:v>两翼</c:v>
                </c:pt>
                <c:pt idx="2">
                  <c:v>集客业务</c:v>
                </c:pt>
              </c:strCache>
            </c:strRef>
          </c:cat>
          <c:val>
            <c:numRef>
              <c:f>[工作簿3]Sheet1!$C$19:$C$22</c:f>
              <c:numCache>
                <c:formatCode>General</c:formatCode>
                <c:ptCount val="4"/>
                <c:pt idx="0">
                  <c:v>6265</c:v>
                </c:pt>
                <c:pt idx="1">
                  <c:v>1227</c:v>
                </c:pt>
                <c:pt idx="2">
                  <c:v>8626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</c:dLbls>
      </c:pie3D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accent6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accent6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accent6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accent6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222897937599154"/>
          <c:y val="0.128946832348747"/>
          <c:w val="0.605896351136965"/>
          <c:h val="0.094723976369932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accent6">
                  <a:lumMod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f97fd41-35f9-4046-b6f2-9901023e483e}"/>
      </c:ext>
    </c:extLst>
  </c:chart>
  <c:spPr>
    <a:gradFill>
      <a:gsLst>
        <a:gs pos="17000">
          <a:schemeClr val="bg1"/>
        </a:gs>
        <a:gs pos="100000">
          <a:schemeClr val="accent4">
            <a:alpha val="0"/>
            <a:lumMod val="17000"/>
            <a:lumOff val="83000"/>
          </a:schemeClr>
        </a:gs>
      </a:gsLst>
      <a:lin ang="5400000" scaled="0"/>
    </a:gradFill>
    <a:ln w="12700" cap="flat" cmpd="sng" algn="ctr">
      <a:noFill/>
      <a:prstDash val="sysDot"/>
      <a:round/>
    </a:ln>
    <a:effectLst>
      <a:softEdge rad="152400"/>
    </a:effectLst>
  </c:spPr>
  <c:txPr>
    <a:bodyPr/>
    <a:lstStyle/>
    <a:p>
      <a:pPr>
        <a:defRPr lang="zh-CN" sz="1200">
          <a:solidFill>
            <a:schemeClr val="accent6">
              <a:lumMod val="25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9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  <a:scene3d>
        <a:camera prst="orthographicFront"/>
        <a:lightRig rig="threePt" dir="t"/>
      </a:scene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9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  <a:scene3d>
        <a:camera prst="orthographicFront"/>
        <a:lightRig rig="threePt" dir="t"/>
      </a:scene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>
      <cs:styleClr val="auto"/>
    </cs:effectRef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23541" cy="4943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192" tIns="45596" rIns="91192" bIns="45596" numCol="1" anchor="t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1747" y="1"/>
            <a:ext cx="2923541" cy="4943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192" tIns="45596" rIns="91192" bIns="45596" numCol="1" anchor="t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A46E283-564D-47F9-BACA-AAFF9FF72634}" type="datetime1">
              <a:rPr lang="zh-CN" altLang="en-US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87840"/>
            <a:ext cx="2923541" cy="4943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192" tIns="45596" rIns="91192" bIns="45596" numCol="1" anchor="b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1747" y="9387840"/>
            <a:ext cx="2923541" cy="4943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192" tIns="45596" rIns="91192" bIns="45596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7132537-0E74-4A01-B4D5-0BB9C55C0529}" type="slidenum">
              <a:rPr lang="en-US" altLang="zh-CN">
                <a:ea typeface="微软雅黑" panose="020B0503020204020204" pitchFamily="34" charset="-122"/>
              </a:rPr>
            </a:fld>
            <a:endParaRPr lang="en-US" altLang="zh-CN" dirty="0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23541" cy="4943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192" tIns="45596" rIns="91192" bIns="45596" numCol="1" anchor="t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0158" y="1"/>
            <a:ext cx="2923540" cy="4943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192" tIns="45596" rIns="91192" bIns="45596" numCol="1" anchor="t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80B6283-1867-4CBE-B724-B2C1CE89C468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768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9375" y="741363"/>
            <a:ext cx="6586538" cy="37068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053" y="4692331"/>
            <a:ext cx="5397184" cy="44491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192" tIns="45596" rIns="91192" bIns="45596" numCol="1" anchor="t" anchorCtr="0" compatLnSpc="1"/>
          <a:lstStyle/>
          <a:p>
            <a:pPr lvl="0"/>
            <a:r>
              <a:rPr lang="zh-CN" altLang="en-US" noProof="0" dirty="0" smtClean="0"/>
              <a:t>单击此处编辑母版文本样式</a:t>
            </a:r>
            <a:endParaRPr lang="zh-CN" altLang="en-US" noProof="0" dirty="0" smtClean="0"/>
          </a:p>
          <a:p>
            <a:pPr lvl="1"/>
            <a:r>
              <a:rPr lang="zh-CN" altLang="en-US" noProof="0" dirty="0" smtClean="0"/>
              <a:t>第二级</a:t>
            </a:r>
            <a:endParaRPr lang="zh-CN" altLang="en-US" noProof="0" dirty="0" smtClean="0"/>
          </a:p>
          <a:p>
            <a:pPr lvl="2"/>
            <a:r>
              <a:rPr lang="zh-CN" altLang="en-US" noProof="0" dirty="0" smtClean="0"/>
              <a:t>第三级</a:t>
            </a:r>
            <a:endParaRPr lang="zh-CN" altLang="en-US" noProof="0" dirty="0" smtClean="0"/>
          </a:p>
          <a:p>
            <a:pPr lvl="3"/>
            <a:r>
              <a:rPr lang="zh-CN" altLang="en-US" noProof="0" dirty="0" smtClean="0"/>
              <a:t>第四级</a:t>
            </a:r>
            <a:endParaRPr lang="zh-CN" altLang="en-US" noProof="0" dirty="0" smtClean="0"/>
          </a:p>
          <a:p>
            <a:pPr lvl="4"/>
            <a:r>
              <a:rPr lang="zh-CN" altLang="en-US" noProof="0" dirty="0" smtClean="0"/>
              <a:t>第五级</a:t>
            </a:r>
            <a:endParaRPr lang="zh-CN" altLang="en-US" noProof="0" dirty="0" smtClean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86251"/>
            <a:ext cx="2923541" cy="4943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192" tIns="45596" rIns="91192" bIns="45596" numCol="1" anchor="b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0158" y="9386251"/>
            <a:ext cx="2923540" cy="4943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192" tIns="45596" rIns="91192" bIns="45596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5EEB1CA-D073-4C61-A323-7E9D23F6FDC5}" type="slidenum">
              <a:rPr lang="en-US" altLang="zh-CN" smtClean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54419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108839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63258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21767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720975" algn="l" defTabSz="10883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5805" algn="l" defTabSz="10883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000" algn="l" defTabSz="10883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4195" algn="l" defTabSz="10883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EE1E01-FD4B-4FB4-BF6A-3F08A50FF301}" type="slidenum">
              <a:rPr lang="en-US" altLang="zh-CN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en-US" altLang="zh-CN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>
              <a:defRPr/>
            </a:pPr>
            <a:fld id="{B80B6283-1867-4CBE-B724-B2C1CE89C468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5EEB1CA-D073-4C61-A323-7E9D23F6FDC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>
              <a:defRPr/>
            </a:pPr>
            <a:fld id="{B80B6283-1867-4CBE-B724-B2C1CE89C468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5EEB1CA-D073-4C61-A323-7E9D23F6FDC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>
              <a:defRPr/>
            </a:pPr>
            <a:fld id="{B80B6283-1867-4CBE-B724-B2C1CE89C468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5EEB1CA-D073-4C61-A323-7E9D23F6FDC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>
              <a:defRPr/>
            </a:pPr>
            <a:fld id="{B80B6283-1867-4CBE-B724-B2C1CE89C468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5EEB1CA-D073-4C61-A323-7E9D23F6FDC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EE1E01-FD4B-4FB4-BF6A-3F08A50FF301}" type="slidenum">
              <a:rPr lang="en-US" altLang="zh-CN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en-US" altLang="zh-CN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image" Target="../media/image3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image" Target="../media/image3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charteo.com /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1" descr="未标题-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224" y="157480"/>
            <a:ext cx="1838747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Tm="2000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rot="0">
            <a:off x="40005" y="157480"/>
            <a:ext cx="11891010" cy="499110"/>
            <a:chOff x="1229" y="297"/>
            <a:chExt cx="17488" cy="1030"/>
          </a:xfrm>
        </p:grpSpPr>
        <p:sp>
          <p:nvSpPr>
            <p:cNvPr id="15" name="矩形 14"/>
            <p:cNvSpPr/>
            <p:nvPr userDrawn="1"/>
          </p:nvSpPr>
          <p:spPr>
            <a:xfrm>
              <a:off x="1229" y="1207"/>
              <a:ext cx="17092" cy="120"/>
            </a:xfrm>
            <a:prstGeom prst="rect">
              <a:avLst/>
            </a:prstGeom>
            <a:gradFill>
              <a:gsLst>
                <a:gs pos="12000">
                  <a:srgbClr val="C00000"/>
                </a:gs>
                <a:gs pos="82000">
                  <a:srgbClr val="FFC000"/>
                </a:gs>
                <a:gs pos="26000">
                  <a:srgbClr val="ED7D31"/>
                </a:gs>
                <a:gs pos="64000">
                  <a:srgbClr val="FF0000"/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8" name="Picture 41" descr="未标题-1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92" y="297"/>
              <a:ext cx="2825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13"/>
          <p:cNvSpPr/>
          <p:nvPr userDrawn="1"/>
        </p:nvSpPr>
        <p:spPr bwMode="auto">
          <a:xfrm>
            <a:off x="0" y="6781800"/>
            <a:ext cx="11213465" cy="76200"/>
          </a:xfrm>
          <a:custGeom>
            <a:avLst/>
            <a:gdLst>
              <a:gd name="T0" fmla="*/ 0 w 13604"/>
              <a:gd name="T1" fmla="*/ 275 h 275"/>
              <a:gd name="T2" fmla="*/ 13508 w 13604"/>
              <a:gd name="T3" fmla="*/ 275 h 275"/>
              <a:gd name="T4" fmla="*/ 13604 w 13604"/>
              <a:gd name="T5" fmla="*/ 0 h 275"/>
              <a:gd name="T6" fmla="*/ 0 w 13604"/>
              <a:gd name="T7" fmla="*/ 0 h 275"/>
              <a:gd name="T8" fmla="*/ 0 w 13604"/>
              <a:gd name="T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604" h="275">
                <a:moveTo>
                  <a:pt x="0" y="275"/>
                </a:moveTo>
                <a:lnTo>
                  <a:pt x="13508" y="275"/>
                </a:lnTo>
                <a:lnTo>
                  <a:pt x="13604" y="0"/>
                </a:lnTo>
                <a:lnTo>
                  <a:pt x="0" y="0"/>
                </a:lnTo>
                <a:lnTo>
                  <a:pt x="0" y="275"/>
                </a:lnTo>
                <a:close/>
              </a:path>
            </a:pathLst>
          </a:custGeom>
          <a:solidFill>
            <a:srgbClr val="C4261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C4261D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Tm="2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Tm="2000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1027656" y="2565872"/>
            <a:ext cx="216027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  录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39536" y="3593703"/>
            <a:ext cx="2761113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8171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18171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CONTENTS——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18171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4383994" y="2329472"/>
            <a:ext cx="2714220" cy="369400"/>
          </a:xfrm>
          <a:prstGeom prst="rect">
            <a:avLst/>
          </a:prstGeom>
        </p:spPr>
        <p:txBody>
          <a:bodyPr wrap="none" lIns="143977" tIns="0" rIns="143977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9291773" y="6494077"/>
            <a:ext cx="2742771" cy="36519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105AEF-D8DA-4A78-B7AB-D644DED14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68" y="101142"/>
            <a:ext cx="2255486" cy="566069"/>
          </a:xfrm>
          <a:prstGeom prst="rect">
            <a:avLst/>
          </a:prstGeom>
        </p:spPr>
      </p:pic>
    </p:spTree>
  </p:cSld>
  <p:clrMapOvr>
    <a:masterClrMapping/>
  </p:clrMapOvr>
  <p:transition spd="med" advTm="2000">
    <p:split orient="vert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69" y="365193"/>
            <a:ext cx="10513957" cy="132580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069" y="1825963"/>
            <a:ext cx="10513957" cy="435214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069" y="6357527"/>
            <a:ext cx="2742771" cy="365193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7969" y="6357527"/>
            <a:ext cx="4114157" cy="365193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255" y="6357527"/>
            <a:ext cx="2742771" cy="365193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 advTm="2000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Tm="2000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09255" y="6357527"/>
            <a:ext cx="2742771" cy="365193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5E56261-D025-4E19-8BB1-50F078ED349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Microsoft YaHei UI" panose="020B0503020204020204" charset="-122"/>
                <a:ea typeface="微软雅黑" panose="020B0503020204020204" pitchFamily="34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Microsoft YaHei UI" panose="020B050302020402020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78569" y="228643"/>
            <a:ext cx="10339922" cy="76214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 userDrawn="1"/>
        </p:nvGraphicFramePr>
        <p:xfrm>
          <a:off x="11078429" y="228643"/>
          <a:ext cx="744422" cy="59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8" name="Photo Editor 照片" r:id="rId2" imgW="9382125" imgH="7934325" progId="">
                  <p:embed/>
                </p:oleObj>
              </mc:Choice>
              <mc:Fallback>
                <p:oleObj name="Photo Editor 照片" r:id="rId2" imgW="9382125" imgH="7934325" progId="">
                  <p:embed/>
                  <p:pic>
                    <p:nvPicPr>
                      <p:cNvPr id="0" name="Picture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8429" y="228643"/>
                        <a:ext cx="744422" cy="5985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Click="0" advTm="3000">
        <p15:prstTrans prst="fallOver"/>
      </p:transition>
    </mc:Choice>
    <mc:Fallback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标题和内容"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2"/>
          <p:cNvSpPr>
            <a:spLocks noChangeAspect="1" noChangeArrowheads="1"/>
          </p:cNvSpPr>
          <p:nvPr userDrawn="1"/>
        </p:nvSpPr>
        <p:spPr bwMode="auto">
          <a:xfrm>
            <a:off x="10487978" y="292154"/>
            <a:ext cx="1438249" cy="403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图片 2"/>
          <p:cNvSpPr>
            <a:spLocks noChangeAspect="1" noChangeArrowheads="1"/>
          </p:cNvSpPr>
          <p:nvPr userDrawn="1"/>
        </p:nvSpPr>
        <p:spPr bwMode="auto">
          <a:xfrm>
            <a:off x="10514039" y="242933"/>
            <a:ext cx="1438249" cy="403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0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5816" y="157509"/>
            <a:ext cx="1824279" cy="5119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364856" y="149888"/>
            <a:ext cx="1119326" cy="545566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>
              <a:solidFill>
                <a:schemeClr val="tx1"/>
              </a:solidFill>
            </a:endParaRPr>
          </a:p>
        </p:txBody>
      </p:sp>
      <p:cxnSp>
        <p:nvCxnSpPr>
          <p:cNvPr id="4102" name="直接连接符 4"/>
          <p:cNvCxnSpPr/>
          <p:nvPr userDrawn="1"/>
        </p:nvCxnSpPr>
        <p:spPr>
          <a:xfrm>
            <a:off x="364856" y="692278"/>
            <a:ext cx="10260919" cy="0"/>
          </a:xfrm>
          <a:prstGeom prst="line">
            <a:avLst/>
          </a:prstGeom>
          <a:ln w="57150" cap="flat" cmpd="sng">
            <a:gradFill>
              <a:gsLst>
                <a:gs pos="12000">
                  <a:srgbClr val="C00000"/>
                </a:gs>
                <a:gs pos="30000">
                  <a:srgbClr val="FFC000"/>
                </a:gs>
                <a:gs pos="63000">
                  <a:srgbClr val="FF0000"/>
                </a:gs>
                <a:gs pos="100000">
                  <a:schemeClr val="bg1">
                    <a:lumMod val="95000"/>
                  </a:schemeClr>
                </a:gs>
                <a:gs pos="80000">
                  <a:srgbClr val="C00000"/>
                </a:gs>
              </a:gsLst>
              <a:lin ang="0" scaled="1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16"/>
          <p:cNvSpPr txBox="1"/>
          <p:nvPr userDrawn="1">
            <p:custDataLst>
              <p:tags r:id="rId3"/>
            </p:custDataLst>
          </p:nvPr>
        </p:nvSpPr>
        <p:spPr>
          <a:xfrm>
            <a:off x="11147650" y="6551238"/>
            <a:ext cx="953838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9BCBF865-A225-49B7-8C06-A3D8CF7C3037}" type="slidenum">
              <a:rPr lang="zh-CN" altLang="en-US" sz="10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</a:fld>
            <a:r>
              <a:rPr lang="en-US" altLang="zh-CN" sz="10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/13页 </a:t>
            </a:r>
            <a:endParaRPr lang="en-US" altLang="zh-CN" sz="1000" dirty="0" smtClean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charteo.com /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1" descr="未标题-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224" y="157480"/>
            <a:ext cx="1838747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Tm="2000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rot="0">
            <a:off x="40005" y="157480"/>
            <a:ext cx="11891010" cy="499110"/>
            <a:chOff x="1229" y="297"/>
            <a:chExt cx="17488" cy="1030"/>
          </a:xfrm>
        </p:grpSpPr>
        <p:sp>
          <p:nvSpPr>
            <p:cNvPr id="15" name="矩形 14"/>
            <p:cNvSpPr/>
            <p:nvPr userDrawn="1"/>
          </p:nvSpPr>
          <p:spPr>
            <a:xfrm>
              <a:off x="1229" y="1207"/>
              <a:ext cx="17092" cy="120"/>
            </a:xfrm>
            <a:prstGeom prst="rect">
              <a:avLst/>
            </a:prstGeom>
            <a:gradFill>
              <a:gsLst>
                <a:gs pos="12000">
                  <a:srgbClr val="C00000"/>
                </a:gs>
                <a:gs pos="82000">
                  <a:srgbClr val="FFC000"/>
                </a:gs>
                <a:gs pos="26000">
                  <a:srgbClr val="ED7D31"/>
                </a:gs>
                <a:gs pos="64000">
                  <a:srgbClr val="FF0000"/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 fontAlgn="base"/>
              <a:endParaRPr lang="zh-CN" altLang="en-US" sz="1800" b="1">
                <a:solidFill>
                  <a:schemeClr val="lt1"/>
                </a:solidFill>
              </a:endParaRPr>
            </a:p>
          </p:txBody>
        </p:sp>
        <p:pic>
          <p:nvPicPr>
            <p:cNvPr id="8" name="Picture 41" descr="未标题-1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92" y="297"/>
              <a:ext cx="2825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13"/>
          <p:cNvSpPr/>
          <p:nvPr userDrawn="1"/>
        </p:nvSpPr>
        <p:spPr bwMode="auto">
          <a:xfrm>
            <a:off x="0" y="6781800"/>
            <a:ext cx="11213465" cy="76200"/>
          </a:xfrm>
          <a:custGeom>
            <a:avLst/>
            <a:gdLst>
              <a:gd name="T0" fmla="*/ 0 w 13604"/>
              <a:gd name="T1" fmla="*/ 275 h 275"/>
              <a:gd name="T2" fmla="*/ 13508 w 13604"/>
              <a:gd name="T3" fmla="*/ 275 h 275"/>
              <a:gd name="T4" fmla="*/ 13604 w 13604"/>
              <a:gd name="T5" fmla="*/ 0 h 275"/>
              <a:gd name="T6" fmla="*/ 0 w 13604"/>
              <a:gd name="T7" fmla="*/ 0 h 275"/>
              <a:gd name="T8" fmla="*/ 0 w 13604"/>
              <a:gd name="T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604" h="275">
                <a:moveTo>
                  <a:pt x="0" y="275"/>
                </a:moveTo>
                <a:lnTo>
                  <a:pt x="13508" y="275"/>
                </a:lnTo>
                <a:lnTo>
                  <a:pt x="13604" y="0"/>
                </a:lnTo>
                <a:lnTo>
                  <a:pt x="0" y="0"/>
                </a:lnTo>
                <a:lnTo>
                  <a:pt x="0" y="2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C4261D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Tm="200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Tm="2000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1027656" y="2565872"/>
            <a:ext cx="216027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  录</a:t>
            </a:r>
            <a:endParaRPr kumimoji="0" lang="zh-CN" altLang="en-US" sz="6000" b="1" i="0" u="none" strike="noStrike" kern="1200" cap="none" spc="0" normalizeH="0" baseline="0" noProof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39536" y="3593703"/>
            <a:ext cx="2761113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8171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18171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CONTENTS——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18171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4383994" y="2329472"/>
            <a:ext cx="2714220" cy="369400"/>
          </a:xfrm>
          <a:prstGeom prst="rect">
            <a:avLst/>
          </a:prstGeom>
        </p:spPr>
        <p:txBody>
          <a:bodyPr wrap="none" lIns="143977" tIns="0" rIns="143977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9291773" y="6494077"/>
            <a:ext cx="2742771" cy="36519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105AEF-D8DA-4A78-B7AB-D644DED14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68" y="101142"/>
            <a:ext cx="2255486" cy="566069"/>
          </a:xfrm>
          <a:prstGeom prst="rect">
            <a:avLst/>
          </a:prstGeom>
        </p:spPr>
      </p:pic>
    </p:spTree>
  </p:cSld>
  <p:clrMapOvr>
    <a:masterClrMapping/>
  </p:clrMapOvr>
  <p:transition spd="med" advTm="2000">
    <p:split orient="vert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69" y="365193"/>
            <a:ext cx="10513957" cy="132580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069" y="1825963"/>
            <a:ext cx="10513957" cy="435214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069" y="6357527"/>
            <a:ext cx="2742771" cy="365193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7969" y="6357527"/>
            <a:ext cx="4114157" cy="365193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255" y="6357527"/>
            <a:ext cx="2742771" cy="365193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 advTm="2000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Tm="2000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09255" y="6357527"/>
            <a:ext cx="2742771" cy="365193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5E56261-D025-4E19-8BB1-50F078ED349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Microsoft YaHei UI" panose="020B0503020204020204" charset="-122"/>
                <a:ea typeface="微软雅黑" panose="020B0503020204020204" pitchFamily="34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Microsoft YaHei UI" panose="020B050302020402020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78569" y="228643"/>
            <a:ext cx="10339922" cy="76214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 userDrawn="1"/>
        </p:nvGraphicFramePr>
        <p:xfrm>
          <a:off x="11078429" y="228643"/>
          <a:ext cx="744422" cy="59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8" name="Photo Editor 照片" r:id="rId2" imgW="9382125" imgH="7934325" progId="">
                  <p:embed/>
                </p:oleObj>
              </mc:Choice>
              <mc:Fallback>
                <p:oleObj name="Photo Editor 照片" r:id="rId2" imgW="9382125" imgH="7934325" progId="">
                  <p:embed/>
                  <p:pic>
                    <p:nvPicPr>
                      <p:cNvPr id="0" name="Picture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8429" y="228643"/>
                        <a:ext cx="744422" cy="5985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Click="0" advTm="3000">
        <p15:prstTrans prst="fallOver"/>
      </p:transition>
    </mc:Choice>
    <mc:Fallback>
      <p:transition spd="slow" advClick="0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2"/>
          <p:cNvSpPr>
            <a:spLocks noChangeAspect="1" noChangeArrowheads="1"/>
          </p:cNvSpPr>
          <p:nvPr userDrawn="1"/>
        </p:nvSpPr>
        <p:spPr bwMode="auto">
          <a:xfrm>
            <a:off x="10487978" y="292154"/>
            <a:ext cx="1438249" cy="403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图片 2"/>
          <p:cNvSpPr>
            <a:spLocks noChangeAspect="1" noChangeArrowheads="1"/>
          </p:cNvSpPr>
          <p:nvPr userDrawn="1"/>
        </p:nvSpPr>
        <p:spPr bwMode="auto">
          <a:xfrm>
            <a:off x="10514039" y="242933"/>
            <a:ext cx="1438249" cy="403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0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5816" y="157509"/>
            <a:ext cx="1824279" cy="5119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364856" y="149888"/>
            <a:ext cx="1119326" cy="545566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/>
            <a:endParaRPr lang="zh-CN" altLang="en-US" sz="100" b="1" strike="noStrike" noProof="1">
              <a:solidFill>
                <a:schemeClr val="tx1"/>
              </a:solidFill>
            </a:endParaRPr>
          </a:p>
        </p:txBody>
      </p:sp>
      <p:cxnSp>
        <p:nvCxnSpPr>
          <p:cNvPr id="4102" name="直接连接符 4"/>
          <p:cNvCxnSpPr/>
          <p:nvPr userDrawn="1"/>
        </p:nvCxnSpPr>
        <p:spPr>
          <a:xfrm>
            <a:off x="364856" y="692278"/>
            <a:ext cx="10260919" cy="0"/>
          </a:xfrm>
          <a:prstGeom prst="line">
            <a:avLst/>
          </a:prstGeom>
          <a:ln w="57150" cap="flat" cmpd="sng">
            <a:gradFill>
              <a:gsLst>
                <a:gs pos="12000">
                  <a:srgbClr val="C00000"/>
                </a:gs>
                <a:gs pos="30000">
                  <a:srgbClr val="FFC000"/>
                </a:gs>
                <a:gs pos="63000">
                  <a:srgbClr val="FF0000"/>
                </a:gs>
                <a:gs pos="100000">
                  <a:schemeClr val="bg1">
                    <a:lumMod val="95000"/>
                  </a:schemeClr>
                </a:gs>
                <a:gs pos="80000">
                  <a:srgbClr val="C00000"/>
                </a:gs>
              </a:gsLst>
              <a:lin ang="0" scaled="1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16"/>
          <p:cNvSpPr txBox="1"/>
          <p:nvPr userDrawn="1">
            <p:custDataLst>
              <p:tags r:id="rId3"/>
            </p:custDataLst>
          </p:nvPr>
        </p:nvSpPr>
        <p:spPr>
          <a:xfrm>
            <a:off x="11147650" y="6551238"/>
            <a:ext cx="953838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9BCBF865-A225-49B7-8C06-A3D8CF7C3037}" type="slidenum">
              <a:rPr lang="zh-CN" altLang="en-US" sz="1000" b="1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</a:fld>
            <a:r>
              <a:rPr lang="en-US" altLang="zh-CN" sz="1000" b="1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/13页 </a:t>
            </a:r>
            <a:endParaRPr lang="en-US" altLang="zh-CN" sz="1000" b="1" dirty="0" smtClean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charteo.com /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1" descr="未标题-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224" y="157480"/>
            <a:ext cx="1838747" cy="46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Tm="2000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rot="0">
            <a:off x="40005" y="157480"/>
            <a:ext cx="11891010" cy="499110"/>
            <a:chOff x="1229" y="297"/>
            <a:chExt cx="17488" cy="1030"/>
          </a:xfrm>
        </p:grpSpPr>
        <p:sp>
          <p:nvSpPr>
            <p:cNvPr id="15" name="矩形 14"/>
            <p:cNvSpPr/>
            <p:nvPr userDrawn="1"/>
          </p:nvSpPr>
          <p:spPr>
            <a:xfrm>
              <a:off x="1229" y="1207"/>
              <a:ext cx="17092" cy="120"/>
            </a:xfrm>
            <a:prstGeom prst="rect">
              <a:avLst/>
            </a:prstGeom>
            <a:gradFill>
              <a:gsLst>
                <a:gs pos="12000">
                  <a:srgbClr val="C00000"/>
                </a:gs>
                <a:gs pos="82000">
                  <a:srgbClr val="FFC000"/>
                </a:gs>
                <a:gs pos="26000">
                  <a:srgbClr val="ED7D31"/>
                </a:gs>
                <a:gs pos="64000">
                  <a:srgbClr val="FF0000"/>
                </a:gs>
                <a:gs pos="100000">
                  <a:schemeClr val="bg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 fontAlgn="base"/>
              <a:endParaRPr lang="zh-CN" altLang="en-US" sz="1800" b="1">
                <a:solidFill>
                  <a:schemeClr val="lt1"/>
                </a:solidFill>
              </a:endParaRPr>
            </a:p>
          </p:txBody>
        </p:sp>
        <p:pic>
          <p:nvPicPr>
            <p:cNvPr id="8" name="Picture 41" descr="未标题-1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92" y="297"/>
              <a:ext cx="2825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13"/>
          <p:cNvSpPr/>
          <p:nvPr userDrawn="1"/>
        </p:nvSpPr>
        <p:spPr bwMode="auto">
          <a:xfrm>
            <a:off x="0" y="6781800"/>
            <a:ext cx="11213465" cy="76200"/>
          </a:xfrm>
          <a:custGeom>
            <a:avLst/>
            <a:gdLst>
              <a:gd name="T0" fmla="*/ 0 w 13604"/>
              <a:gd name="T1" fmla="*/ 275 h 275"/>
              <a:gd name="T2" fmla="*/ 13508 w 13604"/>
              <a:gd name="T3" fmla="*/ 275 h 275"/>
              <a:gd name="T4" fmla="*/ 13604 w 13604"/>
              <a:gd name="T5" fmla="*/ 0 h 275"/>
              <a:gd name="T6" fmla="*/ 0 w 13604"/>
              <a:gd name="T7" fmla="*/ 0 h 275"/>
              <a:gd name="T8" fmla="*/ 0 w 13604"/>
              <a:gd name="T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604" h="275">
                <a:moveTo>
                  <a:pt x="0" y="275"/>
                </a:moveTo>
                <a:lnTo>
                  <a:pt x="13508" y="275"/>
                </a:lnTo>
                <a:lnTo>
                  <a:pt x="13604" y="0"/>
                </a:lnTo>
                <a:lnTo>
                  <a:pt x="0" y="0"/>
                </a:lnTo>
                <a:lnTo>
                  <a:pt x="0" y="2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C4261D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Tm="200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Tm="2000">
    <p:split orient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1027656" y="2565872"/>
            <a:ext cx="216027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  录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39536" y="3593703"/>
            <a:ext cx="2761113" cy="3683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8171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18171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CONTENTS——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18171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4383994" y="2329472"/>
            <a:ext cx="2714220" cy="369400"/>
          </a:xfrm>
          <a:prstGeom prst="rect">
            <a:avLst/>
          </a:prstGeom>
        </p:spPr>
        <p:txBody>
          <a:bodyPr wrap="none" lIns="143977" tIns="0" rIns="143977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9291773" y="6494077"/>
            <a:ext cx="2742771" cy="36519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105AEF-D8DA-4A78-B7AB-D644DED14D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68" y="101142"/>
            <a:ext cx="2255486" cy="566069"/>
          </a:xfrm>
          <a:prstGeom prst="rect">
            <a:avLst/>
          </a:prstGeom>
        </p:spPr>
      </p:pic>
    </p:spTree>
  </p:cSld>
  <p:clrMapOvr>
    <a:masterClrMapping/>
  </p:clrMapOvr>
  <p:transition spd="med" advTm="2000">
    <p:split orient="vert"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69" y="365193"/>
            <a:ext cx="10513957" cy="132580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069" y="1825963"/>
            <a:ext cx="10513957" cy="435214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069" y="6357527"/>
            <a:ext cx="2742771" cy="365193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7969" y="6357527"/>
            <a:ext cx="4114157" cy="365193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255" y="6357527"/>
            <a:ext cx="2742771" cy="365193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 advTm="2000">
    <p:split orient="vert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Tm="2000">
    <p:split orient="vert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09255" y="6357527"/>
            <a:ext cx="2742771" cy="365193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5E56261-D025-4E19-8BB1-50F078ED349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Microsoft YaHei UI" panose="020B0503020204020204" charset="-122"/>
                <a:ea typeface="微软雅黑" panose="020B0503020204020204" pitchFamily="34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Microsoft YaHei UI" panose="020B050302020402020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78569" y="228643"/>
            <a:ext cx="10339922" cy="76214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 userDrawn="1"/>
        </p:nvGraphicFramePr>
        <p:xfrm>
          <a:off x="11078429" y="228643"/>
          <a:ext cx="744422" cy="59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8" name="Photo Editor 照片" r:id="rId2" imgW="9382125" imgH="7934325" progId="">
                  <p:embed/>
                </p:oleObj>
              </mc:Choice>
              <mc:Fallback>
                <p:oleObj name="Photo Editor 照片" r:id="rId2" imgW="9382125" imgH="7934325" progId="">
                  <p:embed/>
                  <p:pic>
                    <p:nvPicPr>
                      <p:cNvPr id="0" name="Picture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8429" y="228643"/>
                        <a:ext cx="744422" cy="5985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Click="0" advTm="3000">
        <p15:prstTrans prst="fallOver"/>
      </p:transition>
    </mc:Choice>
    <mc:Fallback>
      <p:transition spd="slow" advClick="0" advTm="300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2"/>
          <p:cNvSpPr>
            <a:spLocks noChangeAspect="1" noChangeArrowheads="1"/>
          </p:cNvSpPr>
          <p:nvPr userDrawn="1"/>
        </p:nvSpPr>
        <p:spPr bwMode="auto">
          <a:xfrm>
            <a:off x="10487978" y="292154"/>
            <a:ext cx="1438249" cy="403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图片 2"/>
          <p:cNvSpPr>
            <a:spLocks noChangeAspect="1" noChangeArrowheads="1"/>
          </p:cNvSpPr>
          <p:nvPr userDrawn="1"/>
        </p:nvSpPr>
        <p:spPr bwMode="auto">
          <a:xfrm>
            <a:off x="10514039" y="242933"/>
            <a:ext cx="1438249" cy="403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0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5816" y="157509"/>
            <a:ext cx="1824279" cy="5119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364856" y="149888"/>
            <a:ext cx="1119326" cy="545566"/>
          </a:xfrm>
          <a:prstGeom prst="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/>
            <a:endParaRPr lang="zh-CN" altLang="en-US" sz="100" b="1" strike="noStrike" noProof="1">
              <a:solidFill>
                <a:schemeClr val="tx1"/>
              </a:solidFill>
            </a:endParaRPr>
          </a:p>
        </p:txBody>
      </p:sp>
      <p:cxnSp>
        <p:nvCxnSpPr>
          <p:cNvPr id="4102" name="直接连接符 4"/>
          <p:cNvCxnSpPr/>
          <p:nvPr userDrawn="1"/>
        </p:nvCxnSpPr>
        <p:spPr>
          <a:xfrm>
            <a:off x="364856" y="692278"/>
            <a:ext cx="10260919" cy="0"/>
          </a:xfrm>
          <a:prstGeom prst="line">
            <a:avLst/>
          </a:prstGeom>
          <a:ln w="57150" cap="flat" cmpd="sng">
            <a:gradFill>
              <a:gsLst>
                <a:gs pos="12000">
                  <a:srgbClr val="C00000"/>
                </a:gs>
                <a:gs pos="30000">
                  <a:srgbClr val="FFC000"/>
                </a:gs>
                <a:gs pos="63000">
                  <a:srgbClr val="FF0000"/>
                </a:gs>
                <a:gs pos="100000">
                  <a:schemeClr val="bg1">
                    <a:lumMod val="95000"/>
                  </a:schemeClr>
                </a:gs>
                <a:gs pos="80000">
                  <a:srgbClr val="C00000"/>
                </a:gs>
              </a:gsLst>
              <a:lin ang="0" scaled="1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16"/>
          <p:cNvSpPr txBox="1"/>
          <p:nvPr userDrawn="1">
            <p:custDataLst>
              <p:tags r:id="rId3"/>
            </p:custDataLst>
          </p:nvPr>
        </p:nvSpPr>
        <p:spPr>
          <a:xfrm>
            <a:off x="11147650" y="6551238"/>
            <a:ext cx="953838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9BCBF865-A225-49B7-8C06-A3D8CF7C3037}" type="slidenum">
              <a:rPr lang="zh-CN" altLang="en-US" sz="1000" b="1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</a:fld>
            <a:r>
              <a:rPr lang="en-US" altLang="zh-CN" sz="1000" b="1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/13页 </a:t>
            </a:r>
            <a:endParaRPr lang="en-US" altLang="zh-CN" sz="1000" b="1" dirty="0" smtClean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 advTm="2000">
    <p:split orient="vert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544195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08839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632585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17678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189230" indent="-189230" algn="just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SzPct val="80000"/>
        <a:buFont typeface="Wingdings" panose="05000000000000000000" pitchFamily="2" charset="2"/>
        <a:buChar char="n"/>
        <a:defRPr sz="13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7325" algn="just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SzPct val="80000"/>
        <a:buFont typeface="Arial" panose="020B0604020202020204" pitchFamily="34" charset="0"/>
        <a:buChar char="–"/>
        <a:defRPr sz="1300">
          <a:solidFill>
            <a:schemeClr val="tx1"/>
          </a:solidFill>
          <a:latin typeface="+mn-lt"/>
          <a:ea typeface="+mn-ea"/>
        </a:defRPr>
      </a:lvl2pPr>
      <a:lvl3pPr marL="1374140" indent="-272415" algn="l" rtl="0" eaLnBrk="0" fontAlgn="base" hangingPunct="0">
        <a:spcBef>
          <a:spcPct val="20000"/>
        </a:spcBef>
        <a:spcAft>
          <a:spcPct val="0"/>
        </a:spcAft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837055" indent="-272415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299970" indent="-272415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284416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38836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393255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47675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ransition spd="med" advTm="2000">
    <p:split orient="vert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544195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08839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632585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17678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189230" indent="-189230" algn="just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SzPct val="80000"/>
        <a:buFont typeface="Wingdings" panose="05000000000000000000" pitchFamily="2" charset="2"/>
        <a:buChar char="n"/>
        <a:defRPr sz="13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7325" algn="just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SzPct val="80000"/>
        <a:buFont typeface="Arial" panose="020B0604020202020204" pitchFamily="34" charset="0"/>
        <a:buChar char="–"/>
        <a:defRPr sz="1300">
          <a:solidFill>
            <a:schemeClr val="tx1"/>
          </a:solidFill>
          <a:latin typeface="+mn-lt"/>
          <a:ea typeface="+mn-ea"/>
        </a:defRPr>
      </a:lvl2pPr>
      <a:lvl3pPr marL="1374140" indent="-272415" algn="l" rtl="0" eaLnBrk="0" fontAlgn="base" hangingPunct="0">
        <a:spcBef>
          <a:spcPct val="20000"/>
        </a:spcBef>
        <a:spcAft>
          <a:spcPct val="0"/>
        </a:spcAft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837055" indent="-272415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299970" indent="-272415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284416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38836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393255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47675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ransition spd="med" advTm="2000">
    <p:split orient="vert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544195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08839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632585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17678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189230" indent="-189230" algn="just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SzPct val="80000"/>
        <a:buFont typeface="Wingdings" panose="05000000000000000000" pitchFamily="2" charset="2"/>
        <a:buChar char="n"/>
        <a:defRPr sz="13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7325" algn="just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SzPct val="80000"/>
        <a:buFont typeface="Arial" panose="020B0604020202020204" pitchFamily="34" charset="0"/>
        <a:buChar char="–"/>
        <a:defRPr sz="1300">
          <a:solidFill>
            <a:schemeClr val="tx1"/>
          </a:solidFill>
          <a:latin typeface="+mn-lt"/>
          <a:ea typeface="+mn-ea"/>
        </a:defRPr>
      </a:lvl2pPr>
      <a:lvl3pPr marL="1374140" indent="-272415" algn="l" rtl="0" eaLnBrk="0" fontAlgn="base" hangingPunct="0">
        <a:spcBef>
          <a:spcPct val="20000"/>
        </a:spcBef>
        <a:spcAft>
          <a:spcPct val="0"/>
        </a:spcAft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837055" indent="-272415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299970" indent="-272415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284416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38836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393255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47675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0" Type="http://schemas.openxmlformats.org/officeDocument/2006/relationships/notesSlide" Target="../notesSlides/notesSlide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4" Type="http://schemas.openxmlformats.org/officeDocument/2006/relationships/slideLayout" Target="../slideLayouts/slideLayout14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2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6" Type="http://schemas.openxmlformats.org/officeDocument/2006/relationships/slideLayout" Target="../slideLayouts/slideLayout12.xml"/><Relationship Id="rId45" Type="http://schemas.openxmlformats.org/officeDocument/2006/relationships/tags" Target="../tags/tag82.xml"/><Relationship Id="rId44" Type="http://schemas.openxmlformats.org/officeDocument/2006/relationships/image" Target="../media/image28.svg"/><Relationship Id="rId43" Type="http://schemas.openxmlformats.org/officeDocument/2006/relationships/image" Target="../media/image27.png"/><Relationship Id="rId42" Type="http://schemas.openxmlformats.org/officeDocument/2006/relationships/tags" Target="../tags/tag81.xml"/><Relationship Id="rId41" Type="http://schemas.openxmlformats.org/officeDocument/2006/relationships/tags" Target="../tags/tag80.xml"/><Relationship Id="rId40" Type="http://schemas.openxmlformats.org/officeDocument/2006/relationships/image" Target="../media/image26.svg"/><Relationship Id="rId4" Type="http://schemas.openxmlformats.org/officeDocument/2006/relationships/image" Target="../media/image8.svg"/><Relationship Id="rId39" Type="http://schemas.openxmlformats.org/officeDocument/2006/relationships/image" Target="../media/image25.png"/><Relationship Id="rId38" Type="http://schemas.openxmlformats.org/officeDocument/2006/relationships/tags" Target="../tags/tag79.xml"/><Relationship Id="rId37" Type="http://schemas.openxmlformats.org/officeDocument/2006/relationships/tags" Target="../tags/tag78.xml"/><Relationship Id="rId36" Type="http://schemas.openxmlformats.org/officeDocument/2006/relationships/tags" Target="../tags/tag77.xml"/><Relationship Id="rId35" Type="http://schemas.openxmlformats.org/officeDocument/2006/relationships/tags" Target="../tags/tag76.xml"/><Relationship Id="rId34" Type="http://schemas.openxmlformats.org/officeDocument/2006/relationships/tags" Target="../tags/tag75.xml"/><Relationship Id="rId33" Type="http://schemas.openxmlformats.org/officeDocument/2006/relationships/tags" Target="../tags/tag74.xml"/><Relationship Id="rId32" Type="http://schemas.openxmlformats.org/officeDocument/2006/relationships/image" Target="../media/image24.svg"/><Relationship Id="rId31" Type="http://schemas.openxmlformats.org/officeDocument/2006/relationships/image" Target="../media/image23.png"/><Relationship Id="rId30" Type="http://schemas.openxmlformats.org/officeDocument/2006/relationships/tags" Target="../tags/tag73.xml"/><Relationship Id="rId3" Type="http://schemas.openxmlformats.org/officeDocument/2006/relationships/image" Target="../media/image7.png"/><Relationship Id="rId29" Type="http://schemas.openxmlformats.org/officeDocument/2006/relationships/image" Target="../media/image22.svg"/><Relationship Id="rId28" Type="http://schemas.openxmlformats.org/officeDocument/2006/relationships/image" Target="../media/image21.png"/><Relationship Id="rId27" Type="http://schemas.openxmlformats.org/officeDocument/2006/relationships/tags" Target="../tags/tag72.xml"/><Relationship Id="rId26" Type="http://schemas.openxmlformats.org/officeDocument/2006/relationships/image" Target="../media/image20.svg"/><Relationship Id="rId25" Type="http://schemas.openxmlformats.org/officeDocument/2006/relationships/image" Target="../media/image19.png"/><Relationship Id="rId24" Type="http://schemas.openxmlformats.org/officeDocument/2006/relationships/tags" Target="../tags/tag71.xml"/><Relationship Id="rId23" Type="http://schemas.openxmlformats.org/officeDocument/2006/relationships/image" Target="../media/image18.svg"/><Relationship Id="rId22" Type="http://schemas.openxmlformats.org/officeDocument/2006/relationships/image" Target="../media/image17.png"/><Relationship Id="rId21" Type="http://schemas.openxmlformats.org/officeDocument/2006/relationships/tags" Target="../tags/tag70.xml"/><Relationship Id="rId20" Type="http://schemas.openxmlformats.org/officeDocument/2006/relationships/image" Target="../media/image16.svg"/><Relationship Id="rId2" Type="http://schemas.openxmlformats.org/officeDocument/2006/relationships/tags" Target="../tags/tag61.xml"/><Relationship Id="rId19" Type="http://schemas.openxmlformats.org/officeDocument/2006/relationships/image" Target="../media/image15.png"/><Relationship Id="rId18" Type="http://schemas.openxmlformats.org/officeDocument/2006/relationships/tags" Target="../tags/tag69.xml"/><Relationship Id="rId17" Type="http://schemas.openxmlformats.org/officeDocument/2006/relationships/image" Target="../media/image14.svg"/><Relationship Id="rId16" Type="http://schemas.openxmlformats.org/officeDocument/2006/relationships/image" Target="../media/image13.png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tags" Target="../tags/tag65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image" Target="../media/image30.png"/><Relationship Id="rId3" Type="http://schemas.openxmlformats.org/officeDocument/2006/relationships/image" Target="../media/image29.jpeg"/><Relationship Id="rId2" Type="http://schemas.openxmlformats.org/officeDocument/2006/relationships/tags" Target="../tags/tag88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8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7" Type="http://schemas.openxmlformats.org/officeDocument/2006/relationships/slideLayout" Target="../slideLayouts/slideLayout22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3.xml"/><Relationship Id="rId1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63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5458600" y="708500"/>
          <a:ext cx="1570069" cy="12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" name="Photo Editor 照片" r:id="rId2" imgW="9382125" imgH="7934325" progId="">
                  <p:embed/>
                </p:oleObj>
              </mc:Choice>
              <mc:Fallback>
                <p:oleObj name="Photo Editor 照片" r:id="rId2" imgW="9382125" imgH="7934325" progId="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8600" y="708500"/>
                        <a:ext cx="1570069" cy="12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ilename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85520" y="2778760"/>
            <a:ext cx="10223500" cy="1014730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lIns="97566" tIns="48784" rIns="97566" bIns="48784" anchor="t" anchorCtr="0"/>
          <a:p>
            <a:pPr algn="ctr" defTabSz="914400" fontAlgn="base">
              <a:lnSpc>
                <a:spcPct val="140000"/>
              </a:lnSpc>
            </a:pPr>
            <a:r>
              <a:rPr lang="zh-CN" altLang="en-US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坚持价值引领</a:t>
            </a:r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聚焦关键行业</a:t>
            </a:r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4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40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1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15105" y="5168583"/>
            <a:ext cx="4321175" cy="65913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43900">
            <a:spAutoFit/>
          </a:bodyPr>
          <a:p>
            <a:pPr algn="ctr" defTabSz="914400" fontAlgn="base">
              <a:lnSpc>
                <a:spcPct val="100000"/>
              </a:lnSpc>
            </a:pPr>
            <a:r>
              <a:rPr lang="zh-CN" altLang="en-US" sz="2000" b="0" dirty="0" smtClean="0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怡利科技发展有限公司营销二部</a:t>
            </a:r>
            <a:endParaRPr lang="zh-CN" altLang="en-US" sz="2000" b="0" dirty="0" smtClean="0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defTabSz="914400" fontAlgn="base">
              <a:lnSpc>
                <a:spcPct val="100000"/>
              </a:lnSpc>
            </a:pPr>
            <a:r>
              <a:rPr lang="en-US" altLang="zh-CN" sz="2000" b="0" dirty="0" smtClean="0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2026</a:t>
            </a:r>
            <a:r>
              <a:rPr lang="zh-CN" altLang="en-US" sz="2000" b="0" dirty="0" smtClean="0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000" b="0" dirty="0" smtClean="0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0" dirty="0" smtClean="0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endParaRPr lang="zh-CN" altLang="en-US" sz="2000" b="0" dirty="0" smtClean="0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6"/>
            </p:custDataLst>
          </p:nvPr>
        </p:nvCxnSpPr>
        <p:spPr>
          <a:xfrm>
            <a:off x="8093710" y="5456873"/>
            <a:ext cx="3441700" cy="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7"/>
            </p:custDataLst>
          </p:nvPr>
        </p:nvCxnSpPr>
        <p:spPr>
          <a:xfrm>
            <a:off x="753110" y="5456873"/>
            <a:ext cx="3074035" cy="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 rot="0">
            <a:off x="4055745" y="2275205"/>
            <a:ext cx="5445760" cy="725805"/>
            <a:chOff x="5715" y="2022"/>
            <a:chExt cx="8576" cy="1143"/>
          </a:xfrm>
        </p:grpSpPr>
        <p:sp>
          <p:nvSpPr>
            <p:cNvPr id="8" name="Freeform 113"/>
            <p:cNvSpPr/>
            <p:nvPr>
              <p:custDataLst>
                <p:tags r:id="rId2"/>
              </p:custDataLst>
            </p:nvPr>
          </p:nvSpPr>
          <p:spPr>
            <a:xfrm>
              <a:off x="5715" y="2022"/>
              <a:ext cx="8576" cy="1143"/>
            </a:xfrm>
            <a:custGeom>
              <a:avLst/>
              <a:gdLst/>
              <a:ahLst/>
              <a:cxnLst/>
              <a:rect l="0" t="0" r="0" b="0"/>
              <a:pathLst>
                <a:path w="5692775" h="725931">
                  <a:moveTo>
                    <a:pt x="0" y="87122"/>
                  </a:moveTo>
                  <a:cubicBezTo>
                    <a:pt x="0" y="38990"/>
                    <a:pt x="38988" y="0"/>
                    <a:pt x="87122" y="0"/>
                  </a:cubicBezTo>
                  <a:cubicBezTo>
                    <a:pt x="87122" y="0"/>
                    <a:pt x="87122" y="0"/>
                    <a:pt x="87122" y="0"/>
                  </a:cubicBezTo>
                  <a:lnTo>
                    <a:pt x="87122" y="0"/>
                  </a:lnTo>
                  <a:lnTo>
                    <a:pt x="5605653" y="0"/>
                  </a:lnTo>
                  <a:cubicBezTo>
                    <a:pt x="5653785" y="0"/>
                    <a:pt x="5692775" y="38990"/>
                    <a:pt x="5692775" y="87122"/>
                  </a:cubicBezTo>
                  <a:cubicBezTo>
                    <a:pt x="5692775" y="87122"/>
                    <a:pt x="5692775" y="87122"/>
                    <a:pt x="5692775" y="87122"/>
                  </a:cubicBezTo>
                  <a:lnTo>
                    <a:pt x="5692775" y="87122"/>
                  </a:lnTo>
                  <a:lnTo>
                    <a:pt x="5692775" y="638809"/>
                  </a:lnTo>
                  <a:cubicBezTo>
                    <a:pt x="5692775" y="686942"/>
                    <a:pt x="5653785" y="725931"/>
                    <a:pt x="5605653" y="725931"/>
                  </a:cubicBezTo>
                  <a:cubicBezTo>
                    <a:pt x="5605653" y="725931"/>
                    <a:pt x="5605653" y="725931"/>
                    <a:pt x="5605653" y="725931"/>
                  </a:cubicBezTo>
                  <a:lnTo>
                    <a:pt x="5605653" y="725931"/>
                  </a:lnTo>
                  <a:lnTo>
                    <a:pt x="87122" y="725931"/>
                  </a:lnTo>
                  <a:cubicBezTo>
                    <a:pt x="38988" y="725931"/>
                    <a:pt x="0" y="686942"/>
                    <a:pt x="0" y="638809"/>
                  </a:cubicBezTo>
                  <a:cubicBezTo>
                    <a:pt x="0" y="638809"/>
                    <a:pt x="0" y="638809"/>
                    <a:pt x="0" y="638809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 defTabSz="914400" fontAlgn="base"/>
              <a:endParaRPr lang="zh-CN" altLang="en-US" sz="1800" b="1">
                <a:solidFill>
                  <a:schemeClr val="bg1"/>
                </a:solidFill>
              </a:endParaRPr>
            </a:p>
          </p:txBody>
        </p:sp>
        <p:sp>
          <p:nvSpPr>
            <p:cNvPr id="9" name="Freeform 118"/>
            <p:cNvSpPr/>
            <p:nvPr>
              <p:custDataLst>
                <p:tags r:id="rId3"/>
              </p:custDataLst>
            </p:nvPr>
          </p:nvSpPr>
          <p:spPr>
            <a:xfrm>
              <a:off x="7037" y="2187"/>
              <a:ext cx="69" cy="724"/>
            </a:xfrm>
            <a:custGeom>
              <a:avLst/>
              <a:gdLst/>
              <a:ahLst/>
              <a:cxnLst/>
              <a:rect l="0" t="0" r="0" b="0"/>
              <a:pathLst>
                <a:path h="460120">
                  <a:moveTo>
                    <a:pt x="0" y="0"/>
                  </a:moveTo>
                  <a:lnTo>
                    <a:pt x="0" y="460120"/>
                  </a:lnTo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123"/>
            <p:cNvSpPr/>
            <p:nvPr>
              <p:custDataLst>
                <p:tags r:id="rId4"/>
              </p:custDataLst>
            </p:nvPr>
          </p:nvSpPr>
          <p:spPr>
            <a:xfrm>
              <a:off x="7393" y="2326"/>
              <a:ext cx="6466" cy="43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>
              <a:spAutoFit/>
            </a:bodyPr>
            <a:lstStyle/>
            <a:p>
              <a:pPr marL="0" defTabSz="914400" fontAlgn="base"/>
              <a:r>
                <a:rPr lang="en-US" altLang="zh-CN" sz="1800" b="1" i="0" spc="0" baseline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2025</a:t>
              </a:r>
              <a:r>
                <a:rPr lang="zh-CN" altLang="en-US" sz="1800" b="1" i="0" spc="0" baseline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年工作回顾</a:t>
              </a:r>
              <a:endParaRPr lang="zh-CN" altLang="en-US" sz="1800" b="1" i="0" spc="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126"/>
            <p:cNvSpPr/>
            <p:nvPr>
              <p:custDataLst>
                <p:tags r:id="rId5"/>
              </p:custDataLst>
            </p:nvPr>
          </p:nvSpPr>
          <p:spPr>
            <a:xfrm>
              <a:off x="6078" y="2326"/>
              <a:ext cx="671" cy="43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>
              <a:spAutoFit/>
            </a:bodyPr>
            <a:lstStyle/>
            <a:p>
              <a:pPr marL="0" defTabSz="914400" fontAlgn="base"/>
              <a:r>
                <a:rPr lang="zh-CN" altLang="en-US" sz="1800" b="1" i="0" spc="0" baseline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endParaRPr lang="zh-CN" altLang="en-US" sz="1800" b="1" i="0" spc="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6"/>
            </p:custDataLst>
          </p:nvPr>
        </p:nvGrpSpPr>
        <p:grpSpPr>
          <a:xfrm rot="0">
            <a:off x="4055745" y="3490595"/>
            <a:ext cx="5445760" cy="725805"/>
            <a:chOff x="5715" y="4013"/>
            <a:chExt cx="8576" cy="1143"/>
          </a:xfrm>
          <a:solidFill>
            <a:schemeClr val="accent2"/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5715" y="4013"/>
              <a:ext cx="8576" cy="1143"/>
              <a:chOff x="4012166" y="4870791"/>
              <a:chExt cx="4422472" cy="725931"/>
            </a:xfrm>
            <a:grpFill/>
          </p:grpSpPr>
          <p:sp>
            <p:nvSpPr>
              <p:cNvPr id="19" name="Freeform 113"/>
              <p:cNvSpPr/>
              <p:nvPr>
                <p:custDataLst>
                  <p:tags r:id="rId7"/>
                </p:custDataLst>
              </p:nvPr>
            </p:nvSpPr>
            <p:spPr>
              <a:xfrm>
                <a:off x="4012166" y="4870791"/>
                <a:ext cx="4422472" cy="725931"/>
              </a:xfrm>
              <a:custGeom>
                <a:avLst/>
                <a:gdLst/>
                <a:ahLst/>
                <a:cxnLst/>
                <a:rect l="0" t="0" r="0" b="0"/>
                <a:pathLst>
                  <a:path w="5692775" h="725931">
                    <a:moveTo>
                      <a:pt x="0" y="87122"/>
                    </a:moveTo>
                    <a:cubicBezTo>
                      <a:pt x="0" y="38990"/>
                      <a:pt x="38988" y="0"/>
                      <a:pt x="87122" y="0"/>
                    </a:cubicBezTo>
                    <a:cubicBezTo>
                      <a:pt x="87122" y="0"/>
                      <a:pt x="87122" y="0"/>
                      <a:pt x="87122" y="0"/>
                    </a:cubicBezTo>
                    <a:lnTo>
                      <a:pt x="87122" y="0"/>
                    </a:lnTo>
                    <a:lnTo>
                      <a:pt x="5605653" y="0"/>
                    </a:lnTo>
                    <a:cubicBezTo>
                      <a:pt x="5653785" y="0"/>
                      <a:pt x="5692775" y="38990"/>
                      <a:pt x="5692775" y="87122"/>
                    </a:cubicBezTo>
                    <a:cubicBezTo>
                      <a:pt x="5692775" y="87122"/>
                      <a:pt x="5692775" y="87122"/>
                      <a:pt x="5692775" y="87122"/>
                    </a:cubicBezTo>
                    <a:lnTo>
                      <a:pt x="5692775" y="87122"/>
                    </a:lnTo>
                    <a:lnTo>
                      <a:pt x="5692775" y="638809"/>
                    </a:lnTo>
                    <a:cubicBezTo>
                      <a:pt x="5692775" y="686942"/>
                      <a:pt x="5653785" y="725931"/>
                      <a:pt x="5605653" y="725931"/>
                    </a:cubicBezTo>
                    <a:cubicBezTo>
                      <a:pt x="5605653" y="725931"/>
                      <a:pt x="5605653" y="725931"/>
                      <a:pt x="5605653" y="725931"/>
                    </a:cubicBezTo>
                    <a:lnTo>
                      <a:pt x="5605653" y="725931"/>
                    </a:lnTo>
                    <a:lnTo>
                      <a:pt x="87122" y="725931"/>
                    </a:lnTo>
                    <a:cubicBezTo>
                      <a:pt x="38988" y="725931"/>
                      <a:pt x="0" y="686942"/>
                      <a:pt x="0" y="638809"/>
                    </a:cubicBezTo>
                    <a:cubicBezTo>
                      <a:pt x="0" y="638809"/>
                      <a:pt x="0" y="638809"/>
                      <a:pt x="0" y="63880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" name="Freeform 118"/>
              <p:cNvSpPr/>
              <p:nvPr>
                <p:custDataLst>
                  <p:tags r:id="rId8"/>
                </p:custDataLst>
              </p:nvPr>
            </p:nvSpPr>
            <p:spPr>
              <a:xfrm>
                <a:off x="4653679" y="4975617"/>
                <a:ext cx="45719" cy="460120"/>
              </a:xfrm>
              <a:custGeom>
                <a:avLst/>
                <a:gdLst/>
                <a:ahLst/>
                <a:cxnLst/>
                <a:rect l="0" t="0" r="0" b="0"/>
                <a:pathLst>
                  <a:path h="460120">
                    <a:moveTo>
                      <a:pt x="0" y="0"/>
                    </a:moveTo>
                    <a:lnTo>
                      <a:pt x="0" y="460120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FFFFFF">
                    <a:alpha val="100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" name="Rectangle 126"/>
              <p:cNvSpPr/>
              <p:nvPr>
                <p:custDataLst>
                  <p:tags r:id="rId9"/>
                </p:custDataLst>
              </p:nvPr>
            </p:nvSpPr>
            <p:spPr>
              <a:xfrm>
                <a:off x="4193170" y="5091174"/>
                <a:ext cx="449157" cy="27690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defTabSz="914400" fontAlgn="base"/>
                <a:r>
                  <a:rPr lang="zh-CN" altLang="en-US" sz="1800" b="1" i="0" spc="0" baseline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二、</a:t>
                </a:r>
                <a:endParaRPr lang="zh-CN" altLang="en-US" sz="1800" b="1" i="0" spc="0" baseline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Rectangle 123"/>
            <p:cNvSpPr/>
            <p:nvPr>
              <p:custDataLst>
                <p:tags r:id="rId10"/>
              </p:custDataLst>
            </p:nvPr>
          </p:nvSpPr>
          <p:spPr>
            <a:xfrm>
              <a:off x="7393" y="4360"/>
              <a:ext cx="6466" cy="43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defTabSz="914400" fontAlgn="base"/>
              <a:r>
                <a:rPr lang="en-US" altLang="zh-CN" sz="1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</a:t>
              </a:r>
              <a:r>
                <a:rPr lang="zh-CN" altLang="en-US" sz="1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年工作计划</a:t>
              </a:r>
              <a:endPara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118"/>
            <p:cNvSpPr/>
            <p:nvPr>
              <p:custDataLst>
                <p:tags r:id="rId11"/>
              </p:custDataLst>
            </p:nvPr>
          </p:nvSpPr>
          <p:spPr>
            <a:xfrm>
              <a:off x="7037" y="4177"/>
              <a:ext cx="69" cy="724"/>
            </a:xfrm>
            <a:custGeom>
              <a:avLst/>
              <a:gdLst/>
              <a:ahLst/>
              <a:cxnLst/>
              <a:rect l="0" t="0" r="0" b="0"/>
              <a:pathLst>
                <a:path h="460120">
                  <a:moveTo>
                    <a:pt x="0" y="0"/>
                  </a:moveTo>
                  <a:lnTo>
                    <a:pt x="0" y="460120"/>
                  </a:lnTo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4" name="Freeform 118"/>
          <p:cNvSpPr/>
          <p:nvPr>
            <p:custDataLst>
              <p:tags r:id="rId12"/>
            </p:custDataLst>
          </p:nvPr>
        </p:nvSpPr>
        <p:spPr>
          <a:xfrm>
            <a:off x="4878705" y="4798060"/>
            <a:ext cx="43815" cy="459740"/>
          </a:xfrm>
          <a:custGeom>
            <a:avLst/>
            <a:gdLst/>
            <a:ahLst/>
            <a:cxnLst/>
            <a:rect l="0" t="0" r="0" b="0"/>
            <a:pathLst>
              <a:path h="460120">
                <a:moveTo>
                  <a:pt x="0" y="0"/>
                </a:moveTo>
                <a:lnTo>
                  <a:pt x="0" y="460120"/>
                </a:ln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defTabSz="914400" fontAlgn="base"/>
            <a:endParaRPr lang="zh-CN" altLang="en-US" sz="1800" b="1">
              <a:solidFill>
                <a:schemeClr val="bg1"/>
              </a:solidFill>
            </a:endParaRPr>
          </a:p>
        </p:txBody>
      </p:sp>
      <p:sp>
        <p:nvSpPr>
          <p:cNvPr id="25" name="Freeform 118"/>
          <p:cNvSpPr/>
          <p:nvPr>
            <p:custDataLst>
              <p:tags r:id="rId13"/>
            </p:custDataLst>
          </p:nvPr>
        </p:nvSpPr>
        <p:spPr>
          <a:xfrm>
            <a:off x="4798704" y="2449228"/>
            <a:ext cx="56298" cy="460040"/>
          </a:xfrm>
          <a:custGeom>
            <a:avLst/>
            <a:gdLst/>
            <a:ahLst/>
            <a:cxnLst/>
            <a:rect l="0" t="0" r="0" b="0"/>
            <a:pathLst>
              <a:path h="460120">
                <a:moveTo>
                  <a:pt x="0" y="0"/>
                </a:moveTo>
                <a:lnTo>
                  <a:pt x="0" y="460120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rgbClr val="FFFFFF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909320" y="1270000"/>
            <a:ext cx="10360025" cy="33521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 eaLnBrk="1" latinLnBrk="0" hangingPunct="1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营销二部是公司集客业务拓展重点部门，承接新疆公司“垂直行业纵向穿透”战略，根据公司整体工作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defTabSz="266700" eaLnBrk="1" latinLnBrk="0" hangingPunct="1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部署，2025年初成立数转、XC、云业务三个划小单元，明确各团队聚焦方向，构建“行业+区域”营销体系，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defTabSz="266700" eaLnBrk="1" latinLnBrk="0" hangingPunct="1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与事业部紧密协作，实现战略高效分解。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 eaLnBrk="1" latinLnBrk="0" hangingPunct="1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、数转团队（马英）：主攻电信产数、铁塔两翼、要客等行业数字化转型业务；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defTabSz="266700" eaLnBrk="1" latinLnBrk="0" hangingPunct="1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、XC团队（田玲玲）：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负责党政机关、大应急、新能源等行业信息化业务；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defTabSz="266700" eaLnBrk="1" latinLnBrk="0" hangingPunct="1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、云业务团队（魏志泽）：专注云及数据机房业务拓展。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defTabSz="266700" eaLnBrk="1" latinLnBrk="0" hangingPunct="1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-98425"/>
            <a:ext cx="3328035" cy="68135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noAutofit/>
          </a:bodyPr>
          <a:p>
            <a:pPr marL="0" indent="457200" algn="l" eaLnBrk="1" latinLnBrk="0" hangingPunct="1">
              <a:lnSpc>
                <a:spcPct val="190000"/>
              </a:lnSpc>
              <a:buClrTx/>
              <a:buSzTx/>
              <a:buNone/>
            </a:pPr>
            <a:r>
              <a:rPr lang="en-US" altLang="zh-CN" sz="24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2025</a:t>
            </a:r>
            <a:r>
              <a:rPr lang="zh-CN" altLang="en-US" sz="24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年工作回顾</a:t>
            </a:r>
            <a:endParaRPr lang="zh-CN" altLang="en-US" sz="2400" dirty="0">
              <a:ln>
                <a:noFill/>
              </a:ln>
              <a:solidFill>
                <a:schemeClr val="accent6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22300" y="4726305"/>
          <a:ext cx="10653395" cy="1649730"/>
        </p:xfrm>
        <a:graphic>
          <a:graphicData uri="http://schemas.openxmlformats.org/drawingml/2006/table">
            <a:tbl>
              <a:tblPr/>
              <a:tblGrid>
                <a:gridCol w="909955"/>
                <a:gridCol w="1320800"/>
                <a:gridCol w="1115060"/>
                <a:gridCol w="859155"/>
                <a:gridCol w="1320165"/>
                <a:gridCol w="1115695"/>
                <a:gridCol w="859155"/>
                <a:gridCol w="1320165"/>
                <a:gridCol w="1115060"/>
                <a:gridCol w="718185"/>
              </a:tblGrid>
              <a:tr h="82486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部门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新签合同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预算（万元）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完成值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完成值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收入预算目标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完成值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完成值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利润预算目标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完成值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完成值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486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营销二部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10000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12800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128.00%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8994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149.90%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med" advTm="2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90500" y="77470"/>
            <a:ext cx="1979295" cy="626110"/>
          </a:xfrm>
          <a:prstGeom prst="rect">
            <a:avLst/>
          </a:prstGeom>
        </p:spPr>
        <p:txBody>
          <a:bodyPr vert="horz" lIns="91400" tIns="45701" rIns="91400" bIns="45701" rtlCol="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细黑" panose="02010600040101010101" pitchFamily="2" charset="-122"/>
                <a:cs typeface="+mj-cs"/>
              </a:defRPr>
            </a:lvl1pPr>
          </a:lstStyle>
          <a:p>
            <a:pPr defTabSz="266700" fontAlgn="base"/>
            <a:r>
              <a:rPr lang="en-US" altLang="zh-CN" sz="2000" b="1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经营数据</a:t>
            </a:r>
            <a:r>
              <a:rPr lang="zh-CN" altLang="en-US" sz="2000" b="1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总结</a:t>
            </a:r>
            <a:endParaRPr lang="zh-CN" altLang="en-US" sz="2000" b="1">
              <a:solidFill>
                <a:schemeClr val="accent6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55295" y="687705"/>
            <a:ext cx="10959465" cy="918845"/>
            <a:chOff x="1330" y="7389"/>
            <a:chExt cx="14322" cy="2929"/>
          </a:xfrm>
        </p:grpSpPr>
        <p:sp>
          <p:nvSpPr>
            <p:cNvPr id="3" name="矩形 2"/>
            <p:cNvSpPr/>
            <p:nvPr>
              <p:custDataLst>
                <p:tags r:id="rId3"/>
              </p:custDataLst>
            </p:nvPr>
          </p:nvSpPr>
          <p:spPr>
            <a:xfrm>
              <a:off x="1330" y="7389"/>
              <a:ext cx="14322" cy="2929"/>
            </a:xfrm>
            <a:prstGeom prst="rect">
              <a:avLst/>
            </a:prstGeom>
            <a:ln w="22225" cmpd="sng">
              <a:noFill/>
              <a:prstDash val="sysDash"/>
            </a:ln>
          </p:spPr>
          <p:txBody>
            <a:bodyPr wrap="square" lIns="91438" tIns="45719" rIns="91438" bIns="45719" anchor="t" anchorCtr="0">
              <a:noAutofit/>
            </a:bodyPr>
            <a:p>
              <a:pPr marL="0" lvl="1" indent="0" algn="l" defTabSz="914400" fontAlgn="base">
                <a:lnSpc>
                  <a:spcPct val="120000"/>
                </a:lnSpc>
                <a:spcBef>
                  <a:spcPts val="600"/>
                </a:spcBef>
                <a:buClr>
                  <a:srgbClr val="C00000"/>
                </a:buClr>
                <a:buSzPct val="80000"/>
                <a:buFont typeface="Wingdings" panose="05000000000000000000" charset="0"/>
                <a:buNone/>
                <a:defRPr/>
              </a:pPr>
              <a:endParaRPr lang="zh-CN" altLang="en-US" sz="1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4" name="矩形"/>
            <p:cNvSpPr/>
            <p:nvPr>
              <p:custDataLst>
                <p:tags r:id="rId4"/>
              </p:custDataLst>
            </p:nvPr>
          </p:nvSpPr>
          <p:spPr>
            <a:xfrm>
              <a:off x="3881" y="8045"/>
              <a:ext cx="2861" cy="904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anchor="ctr" anchorCtr="0">
              <a:noAutofit/>
            </a:bodyPr>
            <a:p>
              <a:pPr marL="0" indent="0" algn="ctr" defTabSz="914400" fontAlgn="base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altLang="en-US" sz="1200" b="1" i="0" u="none" strike="noStrike" kern="1200" cap="none" spc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434" y="7660"/>
              <a:ext cx="14013" cy="2623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anchor="t" anchorCtr="0">
              <a:noAutofit/>
            </a:bodyPr>
            <a:p>
              <a:pPr marL="0" indent="0" algn="l" defTabSz="914400" eaLnBrk="1" fontAlgn="base" latinLnBrk="0" hangingPunct="1">
                <a:lnSpc>
                  <a:spcPct val="150000"/>
                </a:lnSpc>
                <a:buClr>
                  <a:srgbClr val="C00000"/>
                </a:buClr>
                <a:buSzTx/>
                <a:buFont typeface="Wingdings" panose="05000000000000000000" charset="0"/>
                <a:buNone/>
              </a:pP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2025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年营销二部全年商机总量金额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15.68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亿元，全年投标总额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4.6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亿元，中标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1.28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亿，中标率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27.8% 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；其中运营商政企类投标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1.94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亿，占比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42%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。集客类投标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2.66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亿，占比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57%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；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内外部协同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7.7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亿元，占比</a:t>
              </a:r>
              <a:r>
                <a:rPr lang="en-US" altLang="zh-CN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49.11%</a:t>
              </a:r>
              <a:r>
                <a:rPr lang="zh-CN" altLang="en-US" sz="16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。</a:t>
              </a:r>
              <a:endParaRPr kumimoji="0" lang="zh-CN" altLang="en-US" sz="1600" b="0" i="0" u="none" strike="noStrike" kern="0" cap="none" spc="0" normalizeH="0" baseline="0" noProof="0" dirty="0">
                <a:ln w="18415" cmpd="sng">
                  <a:noFill/>
                  <a:prstDash val="solid"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3" name="AutoShape 11"/>
          <p:cNvSpPr/>
          <p:nvPr>
            <p:custDataLst>
              <p:tags r:id="rId5"/>
            </p:custDataLst>
          </p:nvPr>
        </p:nvSpPr>
        <p:spPr>
          <a:xfrm>
            <a:off x="622935" y="1749425"/>
            <a:ext cx="23495" cy="5148000"/>
          </a:xfrm>
          <a:prstGeom prst="rect">
            <a:avLst/>
          </a:prstGeom>
          <a:gradFill>
            <a:gsLst>
              <a:gs pos="0">
                <a:schemeClr val="accent2">
                  <a:alpha val="36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 scaled="0"/>
          </a:gradFill>
        </p:spPr>
        <p:txBody>
          <a:bodyPr/>
          <a:p>
            <a:pPr defTabSz="914400" fontAlgn="base"/>
            <a:endParaRPr lang="zh-CN" altLang="en-US" sz="1800" b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AutoShape 11"/>
          <p:cNvSpPr/>
          <p:nvPr>
            <p:custDataLst>
              <p:tags r:id="rId6"/>
            </p:custDataLst>
          </p:nvPr>
        </p:nvSpPr>
        <p:spPr>
          <a:xfrm rot="10800000">
            <a:off x="5951220" y="1664920"/>
            <a:ext cx="23495" cy="4680000"/>
          </a:xfrm>
          <a:prstGeom prst="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0"/>
          </a:gradFill>
        </p:spPr>
        <p:txBody>
          <a:bodyPr/>
          <a:p>
            <a:pPr defTabSz="914400" fontAlgn="base"/>
            <a:endParaRPr lang="zh-CN" altLang="en-US" sz="1800" b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1" name="图表 70" descr="7b0a202020202263686172745265734964223a20223230343736383835220a7d0a"/>
          <p:cNvGraphicFramePr/>
          <p:nvPr/>
        </p:nvGraphicFramePr>
        <p:xfrm>
          <a:off x="686435" y="1779905"/>
          <a:ext cx="5221605" cy="3018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2" name="表格 71"/>
          <p:cNvGraphicFramePr/>
          <p:nvPr/>
        </p:nvGraphicFramePr>
        <p:xfrm>
          <a:off x="1387475" y="4798695"/>
          <a:ext cx="3749040" cy="1728000"/>
        </p:xfrm>
        <a:graphic>
          <a:graphicData uri="http://schemas.openxmlformats.org/drawingml/2006/table">
            <a:tbl>
              <a:tblPr/>
              <a:tblGrid>
                <a:gridCol w="1506220"/>
                <a:gridCol w="2242820"/>
              </a:tblGrid>
              <a:tr h="28800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分类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金额（亿元）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中标项目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1.28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内外部协同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7.7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未中标项目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3.1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弃标项目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3.61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商机总量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15.68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9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表格 72"/>
          <p:cNvGraphicFramePr/>
          <p:nvPr/>
        </p:nvGraphicFramePr>
        <p:xfrm>
          <a:off x="6534785" y="1989455"/>
          <a:ext cx="4833620" cy="1421130"/>
        </p:xfrm>
        <a:graphic>
          <a:graphicData uri="http://schemas.openxmlformats.org/drawingml/2006/table">
            <a:tbl>
              <a:tblPr/>
              <a:tblGrid>
                <a:gridCol w="2774315"/>
                <a:gridCol w="2059305"/>
              </a:tblGrid>
              <a:tr h="47371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分类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金额（万元）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371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自主拓展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1.19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371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合作拓展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0.42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图表 1"/>
          <p:cNvGraphicFramePr/>
          <p:nvPr/>
        </p:nvGraphicFramePr>
        <p:xfrm>
          <a:off x="6588760" y="3573780"/>
          <a:ext cx="4826000" cy="267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med" advTm="2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7035" y="231140"/>
            <a:ext cx="6243955" cy="39878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 fontAlgn="base"/>
            <a:r>
              <a:rPr lang="zh-CN" altLang="en-US" sz="2000" b="1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新签合同</a:t>
            </a:r>
            <a:r>
              <a:rPr lang="en-US" altLang="zh-CN" sz="2000" b="1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000" b="1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行业分析</a:t>
            </a:r>
            <a:endParaRPr lang="en-US" altLang="zh-CN" sz="2000" b="1">
              <a:solidFill>
                <a:schemeClr val="accent6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图表 4" descr="7b0a202020202263686172745265734964223a20223230343736383038220a7d0a"/>
          <p:cNvGraphicFramePr/>
          <p:nvPr/>
        </p:nvGraphicFramePr>
        <p:xfrm>
          <a:off x="395605" y="1124585"/>
          <a:ext cx="7954645" cy="5173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8402320" y="1125220"/>
          <a:ext cx="3132000" cy="5147945"/>
        </p:xfrm>
        <a:graphic>
          <a:graphicData uri="http://schemas.openxmlformats.org/drawingml/2006/table">
            <a:tbl>
              <a:tblPr/>
              <a:tblGrid>
                <a:gridCol w="1332000"/>
                <a:gridCol w="1116000"/>
                <a:gridCol w="684000"/>
              </a:tblGrid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站新行业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金额（万元）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占比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数字政府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5063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数据中心（云）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2833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其它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（教育、政府）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1789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大应急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1541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智慧教育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1311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8.1%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智慧农业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1293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要客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1181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7.3%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智慧建筑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848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5.2%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智慧交通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152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0.94%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用能服务</a:t>
                      </a:r>
                      <a:endParaRPr lang="zh-CN" altLang="en-US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107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ln>
                            <a:noFill/>
                          </a:ln>
                          <a:solidFill>
                            <a:schemeClr val="accent6">
                              <a:lumMod val="25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0.66%</a:t>
                      </a:r>
                      <a:endParaRPr lang="en-US" altLang="zh-CN" sz="1400" b="0" i="0">
                        <a:ln>
                          <a:noFill/>
                        </a:ln>
                        <a:solidFill>
                          <a:schemeClr val="accent6">
                            <a:lumMod val="25000"/>
                          </a:schemeClr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Tm="2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2" name="图表 51"/>
          <p:cNvGraphicFramePr/>
          <p:nvPr/>
        </p:nvGraphicFramePr>
        <p:xfrm>
          <a:off x="488950" y="909320"/>
          <a:ext cx="5142230" cy="2888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3" name="表格 52"/>
          <p:cNvGraphicFramePr/>
          <p:nvPr/>
        </p:nvGraphicFramePr>
        <p:xfrm>
          <a:off x="478155" y="4036060"/>
          <a:ext cx="5300345" cy="2520000"/>
        </p:xfrm>
        <a:graphic>
          <a:graphicData uri="http://schemas.openxmlformats.org/drawingml/2006/table">
            <a:tbl>
              <a:tblPr/>
              <a:tblGrid>
                <a:gridCol w="1188000"/>
                <a:gridCol w="2083435"/>
                <a:gridCol w="1965960"/>
              </a:tblGrid>
              <a:tr h="360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事业部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新签合同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(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万）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事业部分配利润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北疆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6317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一事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3262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政企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2340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网技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1977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47.8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第五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68.3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 algn="ctr" fontAlgn="ctr"/>
                      <a:r>
                        <a:rPr 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合计</a:t>
                      </a:r>
                      <a:endParaRPr 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13964.3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278.8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4" name="等腰三角形 53"/>
          <p:cNvSpPr/>
          <p:nvPr>
            <p:custDataLst>
              <p:tags r:id="rId3"/>
            </p:custDataLst>
          </p:nvPr>
        </p:nvSpPr>
        <p:spPr>
          <a:xfrm rot="5400000">
            <a:off x="3401060" y="3322955"/>
            <a:ext cx="5467985" cy="495300"/>
          </a:xfrm>
          <a:prstGeom prst="triangle">
            <a:avLst>
              <a:gd name="adj" fmla="val 50011"/>
            </a:avLst>
          </a:prstGeom>
          <a:gradFill>
            <a:gsLst>
              <a:gs pos="85000">
                <a:srgbClr val="FF0000">
                  <a:alpha val="28000"/>
                </a:srgbClr>
              </a:gs>
              <a:gs pos="0">
                <a:schemeClr val="bg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fontAlgn="base"/>
            <a:endParaRPr lang="zh-CN" altLang="en-US" sz="1800" b="1">
              <a:solidFill>
                <a:schemeClr val="bg1"/>
              </a:solidFill>
            </a:endParaRPr>
          </a:p>
        </p:txBody>
      </p:sp>
      <p:graphicFrame>
        <p:nvGraphicFramePr>
          <p:cNvPr id="55" name="图表 54"/>
          <p:cNvGraphicFramePr/>
          <p:nvPr/>
        </p:nvGraphicFramePr>
        <p:xfrm>
          <a:off x="6828790" y="3345180"/>
          <a:ext cx="4803140" cy="3117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7" name="表格 56"/>
          <p:cNvGraphicFramePr/>
          <p:nvPr>
            <p:custDataLst>
              <p:tags r:id="rId4"/>
            </p:custDataLst>
          </p:nvPr>
        </p:nvGraphicFramePr>
        <p:xfrm>
          <a:off x="6828790" y="1125220"/>
          <a:ext cx="4794250" cy="1864995"/>
        </p:xfrm>
        <a:graphic>
          <a:graphicData uri="http://schemas.openxmlformats.org/drawingml/2006/table">
            <a:tbl>
              <a:tblPr/>
              <a:tblGrid>
                <a:gridCol w="2244725"/>
                <a:gridCol w="2549525"/>
              </a:tblGrid>
              <a:tr h="43180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业务分类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金额（万元）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</a:tr>
              <a:tr h="3581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产数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6265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</a:tr>
              <a:tr h="3581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两翼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1227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</a:tr>
              <a:tr h="35877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集客业务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8626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</a:tr>
              <a:tr h="3581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合计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16118.00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  <a:alpha val="16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8" name="标题 1"/>
          <p:cNvSpPr txBox="1"/>
          <p:nvPr>
            <p:custDataLst>
              <p:tags r:id="rId5"/>
            </p:custDataLst>
          </p:nvPr>
        </p:nvSpPr>
        <p:spPr>
          <a:xfrm>
            <a:off x="115985" y="118605"/>
            <a:ext cx="7630095" cy="625896"/>
          </a:xfrm>
          <a:prstGeom prst="rect">
            <a:avLst/>
          </a:prstGeom>
        </p:spPr>
        <p:txBody>
          <a:bodyPr vert="horz" lIns="91400" tIns="45701" rIns="91400" bIns="45701" rtlCol="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细黑" panose="02010600040101010101" pitchFamily="2" charset="-122"/>
                <a:cs typeface="+mj-cs"/>
              </a:defRPr>
            </a:lvl1pPr>
          </a:lstStyle>
          <a:p>
            <a:pPr lvl="0" algn="l" fontAlgn="base">
              <a:lnSpc>
                <a:spcPct val="100000"/>
              </a:lnSpc>
              <a:buClrTx/>
              <a:buSzTx/>
              <a:buFontTx/>
            </a:pPr>
            <a:r>
              <a:rPr lang="zh-CN" altLang="zh-CN" sz="2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跨部门合作分析</a:t>
            </a:r>
            <a:endParaRPr lang="zh-CN" altLang="zh-CN" sz="24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 advTm="2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68605" y="727710"/>
            <a:ext cx="10916920" cy="5577205"/>
          </a:xfrm>
          <a:prstGeom prst="rect">
            <a:avLst/>
          </a:prstGeom>
        </p:spPr>
        <p:txBody>
          <a:bodyPr wrap="square">
            <a:noAutofit/>
          </a:bodyPr>
          <a:p>
            <a:pPr marL="171450" indent="-171450" algn="l" fontAlgn="auto">
              <a:lnSpc>
                <a:spcPct val="140000"/>
              </a:lnSpc>
              <a:spcAft>
                <a:spcPts val="1000"/>
              </a:spcAft>
              <a:buFont typeface="Wingdings" panose="05000000000000000000" charset="0"/>
              <a:buChar char="u"/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深度挖掘主实协同、两翼、数字政府、智慧城市、要客、大应急、能源等核心行业客户，梳理客户、商机、生态清单，通过周对标、月复盘推动项目落地；与事业部跨团队联合攻坚重大项目，突破高价值客户。签订千万以上合同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个。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 fontAlgn="auto">
              <a:lnSpc>
                <a:spcPct val="140000"/>
              </a:lnSpc>
              <a:spcAft>
                <a:spcPts val="1000"/>
              </a:spcAft>
              <a:buFont typeface="Wingdings" panose="05000000000000000000" charset="0"/>
              <a:buChar char="u"/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armonyOS Sans SC Light" panose="02010600030101010101" pitchFamily="2" charset="-122"/>
              </a:rPr>
              <a:t>落实划小责任制，针对能源、大应急、要客、智慧城市、数据中心等板块配备专职行业经理。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强化与事业部划小单元联动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armonyOS Sans SC Light" panose="02010600030101010101" pitchFamily="2" charset="-122"/>
              </a:rPr>
              <a:t>，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armonyOS Sans SC Light" panose="02010600030101010101" pitchFamily="2" charset="-122"/>
              </a:rPr>
              <a:t>开展客户拜访，累计拜访重点客户86家，达成意向合作21家。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armonyOS Sans SC Light" panose="02010600030101010101" pitchFamily="2" charset="-122"/>
            </a:endParaRPr>
          </a:p>
          <a:p>
            <a:pPr marL="171450" indent="-171450" algn="l" fontAlgn="auto">
              <a:lnSpc>
                <a:spcPct val="140000"/>
              </a:lnSpc>
              <a:spcAft>
                <a:spcPts val="1000"/>
              </a:spcAft>
              <a:buFont typeface="Wingdings" panose="05000000000000000000" charset="0"/>
              <a:buChar char="u"/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商机、投标、中标、签约规模等内容与团队成员做强关联；组织部门员工进行产品培训、营销培训，开展线上线下沟通赋能；严格执行公司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221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工作部署。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 fontAlgn="auto">
              <a:lnSpc>
                <a:spcPct val="140000"/>
              </a:lnSpc>
              <a:spcAft>
                <a:spcPts val="100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全年拓展事业部立项项目数 38个，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责任到人逐一对接欠款单位，明确回款节点；全年应收帐款完成7499万，超额完成本年应收帐款指标。</a:t>
            </a: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171450" indent="-171450" algn="l" fontAlgn="auto">
              <a:lnSpc>
                <a:spcPct val="140000"/>
              </a:lnSpc>
              <a:spcAft>
                <a:spcPts val="100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1600" b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完善生态合作伙伴名录，与国密蓝盾、长城、天融信、ITC等外部资源达成战略合作，完善价格体系，拓展多行业、多区域生态圈。参与厂家全国性交流会</a:t>
            </a:r>
            <a:r>
              <a:rPr lang="en-US" altLang="zh-CN" sz="1600" b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600" b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次。</a:t>
            </a:r>
            <a:endParaRPr lang="zh-CN" altLang="en-US" sz="1600" b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 fontAlgn="auto">
              <a:lnSpc>
                <a:spcPct val="140000"/>
              </a:lnSpc>
              <a:spcAft>
                <a:spcPts val="100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1600" b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armonyOS Sans SC Light" panose="02010600030101010101" pitchFamily="2" charset="-122"/>
              </a:rPr>
              <a:t>指导的新员工在新疆通服2025年新疆通服新员工训练营，向上向善，同学同行"培训中获得一等奖，获得运营商政企客户、集客客户表扬信7封。</a:t>
            </a:r>
            <a:endParaRPr lang="zh-CN" altLang="en-US" sz="1600" b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 fontAlgn="auto">
              <a:lnSpc>
                <a:spcPct val="140000"/>
              </a:lnSpc>
              <a:spcAft>
                <a:spcPts val="1000"/>
              </a:spcAft>
              <a:buClrTx/>
              <a:buSzTx/>
              <a:buFont typeface="Wingdings" panose="05000000000000000000" charset="0"/>
              <a:buChar char="u"/>
            </a:pPr>
            <a:r>
              <a:rPr lang="zh-CN" altLang="en-US" sz="1600" b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armonyOS Sans SC Black" panose="00000A00000000000000" pitchFamily="2" charset="-122"/>
              </a:rPr>
              <a:t>2025年部门累计集客评审合同70份，规避潜在风险项目9个；</a:t>
            </a: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HarmonyOS Sans SC Light" panose="02010600030101010101" pitchFamily="2" charset="-122"/>
              </a:rPr>
              <a:t>。</a:t>
            </a:r>
            <a:endParaRPr lang="zh-CN" altLang="en-US" sz="1600" b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armonyOS Sans SC Black" panose="00000A00000000000000" pitchFamily="2" charset="-122"/>
            </a:endParaRPr>
          </a:p>
          <a:p>
            <a:pPr marL="171450" indent="-171450" algn="l" fontAlgn="auto">
              <a:lnSpc>
                <a:spcPct val="140000"/>
              </a:lnSpc>
              <a:spcAft>
                <a:spcPts val="1000"/>
              </a:spcAft>
              <a:buClrTx/>
              <a:buSzTx/>
              <a:buFont typeface="Wingdings" panose="05000000000000000000" charset="0"/>
              <a:buChar char="u"/>
            </a:pPr>
            <a:endParaRPr lang="zh-CN" altLang="en-US" sz="1600" b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 fontAlgn="auto">
              <a:lnSpc>
                <a:spcPct val="140000"/>
              </a:lnSpc>
              <a:spcAft>
                <a:spcPts val="1000"/>
              </a:spcAft>
              <a:buClrTx/>
              <a:buSzTx/>
              <a:buFont typeface="Wingdings" panose="05000000000000000000" charset="0"/>
              <a:buChar char="u"/>
            </a:pPr>
            <a:endParaRPr lang="zh-CN" altLang="en-US" sz="1600" b="0">
              <a:solidFill>
                <a:schemeClr val="tx1">
                  <a:lumMod val="10000"/>
                </a:schemeClr>
              </a:solidFill>
              <a:latin typeface="Microsoft YaHei UI" panose="020B0503020204020204" charset="-122"/>
              <a:ea typeface="Microsoft YaHei UI" panose="020B0503020204020204" charset="-122"/>
              <a:cs typeface="Open Sans" panose="020B0606030504020204" pitchFamily="34" charset="0"/>
              <a:sym typeface="HarmonyOS Sans SC Light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-98425"/>
            <a:ext cx="3328035" cy="68135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noAutofit/>
          </a:bodyPr>
          <a:p>
            <a:pPr marL="0" indent="457200" algn="l" eaLnBrk="1" latinLnBrk="0" hangingPunct="1">
              <a:lnSpc>
                <a:spcPct val="190000"/>
              </a:lnSpc>
              <a:buClrTx/>
              <a:buSzTx/>
              <a:buNone/>
            </a:pPr>
            <a:r>
              <a:rPr lang="zh-CN" sz="24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重点工作推进</a:t>
            </a:r>
            <a:endParaRPr lang="zh-CN" sz="2400" dirty="0">
              <a:ln>
                <a:noFill/>
              </a:ln>
              <a:solidFill>
                <a:schemeClr val="accent6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med" advTm="2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5"/>
          <p:cNvSpPr txBox="1"/>
          <p:nvPr/>
        </p:nvSpPr>
        <p:spPr>
          <a:xfrm>
            <a:off x="671830" y="1003300"/>
            <a:ext cx="10543540" cy="534860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l">
              <a:lnSpc>
                <a:spcPct val="125000"/>
              </a:lnSpc>
              <a:spcBef>
                <a:spcPts val="450"/>
              </a:spcBef>
            </a:pP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en-US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市场拓展深度不足：</a:t>
            </a:r>
            <a:endParaRPr lang="zh-CN" altLang="en-US" sz="19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450"/>
              </a:spcBef>
            </a:pP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部分行业（如县域医疗、职教院校、要客）的客户渗透力较弱，标杆项目打造进度滞后，未能形成规模化复制效应；团队的市场拓展能力有待提升，行业拓展率未达预期目标。</a:t>
            </a:r>
            <a:endParaRPr lang="zh-CN" altLang="en-US" sz="19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450"/>
              </a:spcBef>
            </a:pPr>
            <a:endParaRPr lang="zh-CN" altLang="en-US" sz="19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450"/>
              </a:spcBef>
            </a:pP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en-US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团队间能力不均衡：</a:t>
            </a:r>
            <a:endParaRPr lang="zh-CN" altLang="en-US" sz="19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450"/>
              </a:spcBef>
            </a:pP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划小团队、客户经理之间的业务能力存在差距，</a:t>
            </a: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40%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的客户经理贡献了</a:t>
            </a: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80%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的签约额；部分员工对新兴技术与解决方案的理解不够深入，高端客户对接能力不足；划小经营单元的独立作战能力有待强化。</a:t>
            </a:r>
            <a:endParaRPr lang="zh-CN" altLang="en-US" sz="19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450"/>
              </a:spcBef>
            </a:pPr>
            <a:endParaRPr lang="zh-CN" altLang="en-US" sz="19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450"/>
              </a:spcBef>
            </a:pP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en-US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精细化管理有待加强：商机转化率偏低，总商机转化率为</a:t>
            </a: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28%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；合同履约跟踪机制不够完善，存在</a:t>
            </a: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个项目交付进度滞后于合同约定的情况，影响收入确认效率。</a:t>
            </a:r>
            <a:endParaRPr lang="zh-CN" altLang="en-US" sz="19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450"/>
              </a:spcBef>
            </a:pPr>
            <a:endParaRPr lang="zh-CN" altLang="en-US" sz="19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  <a:spcBef>
                <a:spcPts val="450"/>
              </a:spcBef>
            </a:pPr>
            <a:r>
              <a:rPr lang="en-US" altLang="zh-CN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9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、项目交付过程与事业部划小单元间沟通不充分，项目交付周期、采购周期等超预订时限。</a:t>
            </a:r>
            <a:endParaRPr lang="zh-CN" altLang="en-US" sz="19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97155" y="45720"/>
            <a:ext cx="4817745" cy="41973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noAutofit/>
          </a:bodyPr>
          <a:p>
            <a:pPr algn="l">
              <a:lnSpc>
                <a:spcPct val="125000"/>
              </a:lnSpc>
              <a:spcBef>
                <a:spcPts val="450"/>
              </a:spcBef>
            </a:pPr>
            <a:r>
              <a:rPr lang="en-US" altLang="zh-CN" sz="28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2800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工作中不足</a:t>
            </a:r>
            <a:endParaRPr lang="zh-CN" altLang="en-US" sz="2800" dirty="0">
              <a:ln>
                <a:noFill/>
              </a:ln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 advTm="2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79517" y="1394677"/>
            <a:ext cx="11305816" cy="503030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702435" y="1053465"/>
            <a:ext cx="10001885" cy="4947920"/>
          </a:xfrm>
          <a:prstGeom prst="rect">
            <a:avLst/>
          </a:prstGeom>
          <a:ln w="6350">
            <a:solidFill>
              <a:schemeClr val="accent1">
                <a:alpha val="10000"/>
              </a:schemeClr>
            </a:solidFill>
          </a:ln>
          <a:effectLst>
            <a:outerShdw blurRad="304800" dist="38100" dir="8100000" algn="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2032000" y="1126490"/>
            <a:ext cx="9428480" cy="4474210"/>
          </a:xfrm>
          <a:prstGeom prst="rect">
            <a:avLst/>
          </a:prstGeom>
          <a:solidFill>
            <a:schemeClr val="bg1">
              <a:alpha val="20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062471" y="1126035"/>
            <a:ext cx="9099586" cy="924231"/>
          </a:xfrm>
        </p:spPr>
        <p:txBody>
          <a:bodyPr/>
          <a:lstStyle/>
          <a:p>
            <a:r>
              <a:rPr lang="zh-CN" altLang="en-US" sz="3595">
                <a:solidFill>
                  <a:schemeClr val="tx1">
                    <a:lumMod val="10000"/>
                  </a:schemeClr>
                </a:solidFill>
              </a:rPr>
              <a:t>总结</a:t>
            </a:r>
            <a:endParaRPr lang="zh-CN" altLang="en-US" sz="3595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5"/>
            </p:custDataLst>
          </p:nvPr>
        </p:nvSpPr>
        <p:spPr>
          <a:xfrm>
            <a:off x="2062480" y="2205990"/>
            <a:ext cx="8554720" cy="27012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2025</a:t>
            </a:r>
            <a:r>
              <a:rPr lang="zh-CN" altLang="en-US" sz="2000" b="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各项工作已进入收官阶段。回顾全年，在公司领导的统筹部署与各部门同事的全力支持下，二部全体成员紧扣集客市场营销核心任务聚力攻坚，各项工作成果的取得，皆凝聚着团队的精诚协作与奋勇拼搏。在此，谨向公司领导及各位同事致以诚挚谢意，感谢大家的鼎力相助。</a:t>
            </a:r>
            <a:r>
              <a:rPr lang="zh-CN" altLang="en-US" sz="2000" b="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000" b="0" kern="0" dirty="0">
                <a:ln>
                  <a:noFill/>
                  <a:prstDash val="sysDot"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endParaRPr lang="zh-CN" altLang="en-US" sz="2000" b="0" kern="0" dirty="0">
              <a:ln>
                <a:noFill/>
                <a:prstDash val="sysDot"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L 形 5"/>
          <p:cNvSpPr/>
          <p:nvPr>
            <p:custDataLst>
              <p:tags r:id="rId6"/>
            </p:custDataLst>
          </p:nvPr>
        </p:nvSpPr>
        <p:spPr>
          <a:xfrm>
            <a:off x="1086945" y="5783665"/>
            <a:ext cx="367916" cy="400268"/>
          </a:xfrm>
          <a:prstGeom prst="corner">
            <a:avLst>
              <a:gd name="adj1" fmla="val 29137"/>
              <a:gd name="adj2" fmla="val 31310"/>
            </a:avLst>
          </a:prstGeom>
          <a:gradFill>
            <a:gsLst>
              <a:gs pos="1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7"/>
            </p:custDataLst>
          </p:nvPr>
        </p:nvSpPr>
        <p:spPr>
          <a:xfrm>
            <a:off x="10383811" y="5744336"/>
            <a:ext cx="680011" cy="68001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  <a:alpha val="81000"/>
                </a:schemeClr>
              </a:gs>
            </a:gsLst>
            <a:lin ang="2700000" scaled="0"/>
          </a:gradFill>
          <a:ln>
            <a:noFill/>
          </a:ln>
          <a:effectLst>
            <a:outerShdw blurRad="114300" dist="38100" dir="2700000" algn="tl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8"/>
            </p:custDataLst>
          </p:nvPr>
        </p:nvSpPr>
        <p:spPr>
          <a:xfrm>
            <a:off x="580743" y="405109"/>
            <a:ext cx="1380955" cy="1380955"/>
          </a:xfrm>
          <a:prstGeom prst="ellipse">
            <a:avLst/>
          </a:prstGeom>
          <a:gradFill>
            <a:gsLst>
              <a:gs pos="0">
                <a:schemeClr val="accent1">
                  <a:alpha val="78000"/>
                </a:schemeClr>
              </a:gs>
              <a:gs pos="100000">
                <a:schemeClr val="accent1">
                  <a:lumMod val="60000"/>
                  <a:lumOff val="40000"/>
                  <a:alpha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p:transition spd="med" advTm="2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5"/>
          <p:cNvSpPr txBox="1"/>
          <p:nvPr/>
        </p:nvSpPr>
        <p:spPr>
          <a:xfrm>
            <a:off x="1486140" y="2952421"/>
            <a:ext cx="9182889" cy="1103224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5000"/>
              </a:lnSpc>
              <a:spcBef>
                <a:spcPts val="450"/>
              </a:spcBef>
            </a:pPr>
            <a:r>
              <a:rPr lang="en-US" altLang="zh-CN" sz="435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 sz="435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年工作计划</a:t>
            </a:r>
            <a:endParaRPr lang="zh-CN" altLang="en-US" sz="435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70875" y="1413276"/>
            <a:ext cx="9182889" cy="153870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25000"/>
              </a:lnSpc>
              <a:spcBef>
                <a:spcPts val="450"/>
              </a:spcBef>
            </a:pPr>
            <a:r>
              <a:rPr lang="en-US" sz="6600" b="1">
                <a:solidFill>
                  <a:schemeClr val="accent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lang="en-US" sz="6600" b="1">
              <a:solidFill>
                <a:schemeClr val="accent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Tm="2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342390" y="1845945"/>
          <a:ext cx="10653395" cy="1649730"/>
        </p:xfrm>
        <a:graphic>
          <a:graphicData uri="http://schemas.openxmlformats.org/drawingml/2006/table">
            <a:tbl>
              <a:tblPr/>
              <a:tblGrid>
                <a:gridCol w="909955"/>
                <a:gridCol w="1320800"/>
                <a:gridCol w="1320165"/>
              </a:tblGrid>
              <a:tr h="82486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部门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新签合同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预算（万元）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利润预算目标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486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营销二部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16000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-240665" y="-26670"/>
            <a:ext cx="6096000" cy="79248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0" indent="457200" algn="l" eaLnBrk="1" latinLnBrk="0" hangingPunct="1">
              <a:lnSpc>
                <a:spcPct val="190000"/>
              </a:lnSpc>
              <a:buClrTx/>
              <a:buSzTx/>
              <a:buNone/>
            </a:pPr>
            <a:r>
              <a:rPr lang="en-US" altLang="zh-CN" sz="24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2026</a:t>
            </a:r>
            <a:r>
              <a:rPr lang="zh-CN" altLang="en-US" sz="24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年任务指标</a:t>
            </a:r>
            <a:endParaRPr lang="zh-CN" altLang="en-US" sz="2400" dirty="0">
              <a:ln>
                <a:noFill/>
              </a:ln>
              <a:solidFill>
                <a:schemeClr val="accent6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 advTm="2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4645" y="105410"/>
            <a:ext cx="6096000" cy="39878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0" algn="l" defTabSz="266700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2026</a:t>
            </a:r>
            <a:r>
              <a:rPr lang="zh-CN" altLang="en-US" sz="20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年任务指标、组织架构优化</a:t>
            </a:r>
            <a:endParaRPr lang="zh-CN" altLang="en-US" sz="2000">
              <a:solidFill>
                <a:schemeClr val="accent6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1181735" y="772795"/>
            <a:ext cx="9702254" cy="5820388"/>
            <a:chOff x="1013" y="200"/>
            <a:chExt cx="15051" cy="9676"/>
          </a:xfrm>
        </p:grpSpPr>
        <p:sp>
          <p:nvSpPr>
            <p:cNvPr id="105" name="圆角矩形 104"/>
            <p:cNvSpPr/>
            <p:nvPr>
              <p:custDataLst>
                <p:tags r:id="rId1"/>
              </p:custDataLst>
            </p:nvPr>
          </p:nvSpPr>
          <p:spPr>
            <a:xfrm>
              <a:off x="6581" y="1163"/>
              <a:ext cx="3401" cy="56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00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主任（</a:t>
              </a:r>
              <a:r>
                <a:rPr lang="en-US" altLang="zh-CN" sz="1200">
                  <a:latin typeface="Arial" panose="020B0604020202020204" pitchFamily="34" charset="0"/>
                  <a:ea typeface="微软雅黑" panose="020B0503020204020204" pitchFamily="34" charset="-122"/>
                </a:rPr>
                <a:t>1</a:t>
              </a:r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人）</a:t>
              </a:r>
              <a:endParaRPr lang="zh-CN" altLang="en-US" sz="12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6" name="圆角矩形 105"/>
            <p:cNvSpPr/>
            <p:nvPr>
              <p:custDataLst>
                <p:tags r:id="rId2"/>
              </p:custDataLst>
            </p:nvPr>
          </p:nvSpPr>
          <p:spPr>
            <a:xfrm>
              <a:off x="1114" y="3211"/>
              <a:ext cx="3401" cy="56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00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数转业务团队（马英</a:t>
              </a:r>
              <a:r>
                <a:rPr lang="en-US" altLang="zh-CN" sz="1200">
                  <a:latin typeface="Arial" panose="020B0604020202020204" pitchFamily="34" charset="0"/>
                  <a:ea typeface="微软雅黑" panose="020B0503020204020204" pitchFamily="34" charset="-122"/>
                </a:rPr>
                <a:t>5</a:t>
              </a:r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人）</a:t>
              </a:r>
              <a:endParaRPr lang="zh-CN" altLang="en-US" sz="12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07" name="肘形连接符 106"/>
            <p:cNvCxnSpPr>
              <a:stCxn id="111" idx="2"/>
              <a:endCxn id="105" idx="0"/>
            </p:cNvCxnSpPr>
            <p:nvPr>
              <p:custDataLst>
                <p:tags r:id="rId3"/>
              </p:custDataLst>
            </p:nvPr>
          </p:nvCxnSpPr>
          <p:spPr>
            <a:xfrm rot="5400000" flipV="1">
              <a:off x="8084" y="965"/>
              <a:ext cx="396" cy="5"/>
            </a:xfrm>
            <a:prstGeom prst="bentConnector2">
              <a:avLst/>
            </a:prstGeom>
            <a:ln w="19050" cmpd="sng">
              <a:solidFill>
                <a:srgbClr val="000000"/>
              </a:solidFill>
              <a:prstDash val="sysDot"/>
              <a:tailEnd type="triangl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8" name="直接箭头连接符 107"/>
            <p:cNvCxnSpPr/>
            <p:nvPr>
              <p:custDataLst>
                <p:tags r:id="rId4"/>
              </p:custDataLst>
            </p:nvPr>
          </p:nvCxnSpPr>
          <p:spPr>
            <a:xfrm>
              <a:off x="8282" y="1730"/>
              <a:ext cx="3" cy="1131"/>
            </a:xfrm>
            <a:prstGeom prst="straightConnector1">
              <a:avLst/>
            </a:prstGeom>
            <a:ln w="15875">
              <a:solidFill>
                <a:srgbClr val="000000"/>
              </a:solidFill>
              <a:prstDash val="sysDash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AutoShape 5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698" y="3177"/>
              <a:ext cx="3573" cy="6558"/>
            </a:xfrm>
            <a:prstGeom prst="roundRect">
              <a:avLst>
                <a:gd name="adj" fmla="val 2971"/>
              </a:avLst>
            </a:prstGeom>
            <a:noFill/>
            <a:ln w="12700" algn="ctr">
              <a:solidFill>
                <a:srgbClr val="000000"/>
              </a:solidFill>
              <a:prstDash val="sysDash"/>
              <a:miter lim="800000"/>
            </a:ln>
            <a:effectLst/>
          </p:spPr>
          <p:txBody>
            <a:bodyPr lIns="71741" tIns="56555" rIns="71741" bIns="56555" anchor="ctr" anchorCtr="0">
              <a:noAutofit/>
            </a:bodyPr>
            <a:lstStyle/>
            <a:p>
              <a:pPr marL="0" lvl="0" indent="0" algn="just" eaLnBrk="1" latinLnBrk="0" hangingPunct="1">
                <a:lnSpc>
                  <a:spcPct val="135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endParaRPr 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10" name="AutoShape 5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13" y="3177"/>
              <a:ext cx="3613" cy="6567"/>
            </a:xfrm>
            <a:prstGeom prst="roundRect">
              <a:avLst>
                <a:gd name="adj" fmla="val 2971"/>
              </a:avLst>
            </a:prstGeom>
            <a:noFill/>
            <a:ln w="12700" algn="ctr">
              <a:solidFill>
                <a:srgbClr val="000000"/>
              </a:solidFill>
              <a:prstDash val="sysDash"/>
              <a:miter lim="800000"/>
            </a:ln>
            <a:effectLst/>
          </p:spPr>
          <p:txBody>
            <a:bodyPr lIns="71741" tIns="56555" rIns="71741" bIns="56555" anchor="ctr" anchorCtr="0">
              <a:noAutofit/>
            </a:bodyPr>
            <a:lstStyle/>
            <a:p>
              <a:pPr marL="0" lvl="0" indent="0" algn="just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endParaRPr 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11" name="圆角矩形 110"/>
            <p:cNvSpPr/>
            <p:nvPr>
              <p:custDataLst>
                <p:tags r:id="rId7"/>
              </p:custDataLst>
            </p:nvPr>
          </p:nvSpPr>
          <p:spPr>
            <a:xfrm>
              <a:off x="6014" y="200"/>
              <a:ext cx="4535" cy="56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00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Arial" panose="020B0604020202020204" pitchFamily="34" charset="0"/>
                  <a:ea typeface="微软雅黑" panose="020B0503020204020204" pitchFamily="34" charset="-122"/>
                </a:rPr>
                <a:t>营销二部（</a:t>
              </a:r>
              <a:r>
                <a:rPr lang="en-US" altLang="zh-CN" sz="1600">
                  <a:latin typeface="Arial" panose="020B0604020202020204" pitchFamily="34" charset="0"/>
                  <a:ea typeface="微软雅黑" panose="020B0503020204020204" pitchFamily="34" charset="-122"/>
                </a:rPr>
                <a:t>17</a:t>
              </a:r>
              <a:r>
                <a:rPr lang="zh-CN" altLang="en-US" sz="1600">
                  <a:latin typeface="Arial" panose="020B0604020202020204" pitchFamily="34" charset="0"/>
                  <a:ea typeface="微软雅黑" panose="020B0503020204020204" pitchFamily="34" charset="-122"/>
                </a:rPr>
                <a:t>人）</a:t>
              </a: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2" name="圆角矩形 111"/>
            <p:cNvSpPr/>
            <p:nvPr>
              <p:custDataLst>
                <p:tags r:id="rId8"/>
              </p:custDataLst>
            </p:nvPr>
          </p:nvSpPr>
          <p:spPr>
            <a:xfrm>
              <a:off x="9272" y="1860"/>
              <a:ext cx="6792" cy="80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00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内部管理</a:t>
              </a:r>
              <a:r>
                <a:rPr lang="en-US" altLang="zh-CN" sz="1200">
                  <a:latin typeface="Arial" panose="020B0604020202020204" pitchFamily="34" charset="0"/>
                  <a:ea typeface="微软雅黑" panose="020B0503020204020204" pitchFamily="34" charset="-122"/>
                </a:rPr>
                <a:t> </a:t>
              </a:r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（杨惠复用）</a:t>
              </a:r>
              <a:endParaRPr lang="zh-CN" altLang="en-US" sz="1200"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（部门数据统计、标书报名等</a:t>
              </a:r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部门流程、制作标书等</a:t>
              </a:r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）</a:t>
              </a:r>
              <a:endParaRPr lang="zh-CN" altLang="en-US" sz="12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3" name="圆角矩形 112"/>
            <p:cNvSpPr/>
            <p:nvPr>
              <p:custDataLst>
                <p:tags r:id="rId9"/>
              </p:custDataLst>
            </p:nvPr>
          </p:nvSpPr>
          <p:spPr>
            <a:xfrm>
              <a:off x="6787" y="3211"/>
              <a:ext cx="3401" cy="56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00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atin typeface="Arial" panose="020B0604020202020204" pitchFamily="34" charset="0"/>
                  <a:ea typeface="微软雅黑" panose="020B0503020204020204" pitchFamily="34" charset="-122"/>
                </a:rPr>
                <a:t>XC</a:t>
              </a:r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团队（田玲玲</a:t>
              </a:r>
              <a:r>
                <a:rPr lang="en-US" altLang="zh-CN" sz="1200">
                  <a:latin typeface="Arial" panose="020B0604020202020204" pitchFamily="34" charset="0"/>
                  <a:ea typeface="微软雅黑" panose="020B0503020204020204" pitchFamily="34" charset="-122"/>
                </a:rPr>
                <a:t>6</a:t>
              </a:r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人）</a:t>
              </a:r>
              <a:endParaRPr lang="zh-CN" altLang="en-US" sz="12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4" name="圆角矩形 113"/>
            <p:cNvSpPr/>
            <p:nvPr>
              <p:custDataLst>
                <p:tags r:id="rId10"/>
              </p:custDataLst>
            </p:nvPr>
          </p:nvSpPr>
          <p:spPr>
            <a:xfrm>
              <a:off x="11623" y="3209"/>
              <a:ext cx="3401" cy="56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00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云业务团队（魏志泽</a:t>
              </a:r>
              <a:r>
                <a:rPr lang="en-US" altLang="zh-CN" sz="1200">
                  <a:latin typeface="Arial" panose="020B0604020202020204" pitchFamily="34" charset="0"/>
                  <a:ea typeface="微软雅黑" panose="020B0503020204020204" pitchFamily="34" charset="-122"/>
                </a:rPr>
                <a:t>4</a:t>
              </a:r>
              <a:r>
                <a:rPr lang="zh-CN" altLang="en-US" sz="1200">
                  <a:latin typeface="Arial" panose="020B0604020202020204" pitchFamily="34" charset="0"/>
                  <a:ea typeface="微软雅黑" panose="020B0503020204020204" pitchFamily="34" charset="-122"/>
                </a:rPr>
                <a:t>人）</a:t>
              </a:r>
              <a:endParaRPr lang="zh-CN" altLang="en-US" sz="120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15" name="肘形连接符 114"/>
            <p:cNvCxnSpPr/>
            <p:nvPr>
              <p:custDataLst>
                <p:tags r:id="rId11"/>
              </p:custDataLst>
            </p:nvPr>
          </p:nvCxnSpPr>
          <p:spPr>
            <a:xfrm rot="10800000" flipV="1">
              <a:off x="2814" y="2869"/>
              <a:ext cx="5652" cy="365"/>
            </a:xfrm>
            <a:prstGeom prst="bentConnector2">
              <a:avLst/>
            </a:prstGeom>
            <a:ln w="12700">
              <a:solidFill>
                <a:srgbClr val="0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肘形连接符 115"/>
            <p:cNvCxnSpPr>
              <a:endCxn id="114" idx="0"/>
            </p:cNvCxnSpPr>
            <p:nvPr>
              <p:custDataLst>
                <p:tags r:id="rId12"/>
              </p:custDataLst>
            </p:nvPr>
          </p:nvCxnSpPr>
          <p:spPr>
            <a:xfrm>
              <a:off x="8411" y="2821"/>
              <a:ext cx="4913" cy="387"/>
            </a:xfrm>
            <a:prstGeom prst="bentConnector2">
              <a:avLst/>
            </a:prstGeom>
            <a:ln w="12700">
              <a:solidFill>
                <a:srgbClr val="0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肘形连接符 116"/>
            <p:cNvCxnSpPr/>
            <p:nvPr>
              <p:custDataLst>
                <p:tags r:id="rId13"/>
              </p:custDataLst>
            </p:nvPr>
          </p:nvCxnSpPr>
          <p:spPr>
            <a:xfrm>
              <a:off x="8251" y="2152"/>
              <a:ext cx="1077" cy="5"/>
            </a:xfrm>
            <a:prstGeom prst="bentConnector2">
              <a:avLst/>
            </a:prstGeom>
            <a:ln w="12700">
              <a:solidFill>
                <a:srgbClr val="0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AutoShape 51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529" y="3153"/>
              <a:ext cx="3613" cy="6723"/>
            </a:xfrm>
            <a:prstGeom prst="roundRect">
              <a:avLst>
                <a:gd name="adj" fmla="val 2971"/>
              </a:avLst>
            </a:prstGeom>
            <a:noFill/>
            <a:ln w="12700" algn="ctr">
              <a:solidFill>
                <a:srgbClr val="000000"/>
              </a:solidFill>
              <a:prstDash val="sysDash"/>
              <a:miter lim="800000"/>
            </a:ln>
            <a:effectLst/>
          </p:spPr>
          <p:txBody>
            <a:bodyPr lIns="71741" tIns="56555" rIns="71741" bIns="56555" anchor="ctr" anchorCtr="0">
              <a:noAutofit/>
            </a:bodyPr>
            <a:lstStyle/>
            <a:p>
              <a:pPr marL="0" lvl="0" indent="0" algn="just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endParaRPr 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15"/>
              </p:custDataLst>
            </p:nvPr>
          </p:nvSpPr>
          <p:spPr>
            <a:xfrm>
              <a:off x="1108" y="3980"/>
              <a:ext cx="3519" cy="566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71741" rIns="71741" anchor="ctr" anchorCtr="0">
              <a:noAutofit/>
            </a:bodyPr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马英（教育）</a:t>
              </a:r>
              <a:r>
                <a:rPr lang="en-US" alt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 </a:t>
              </a:r>
              <a:endParaRPr lang="en-US" alt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韩方（产数）</a:t>
              </a:r>
              <a:r>
                <a:rPr lang="en-US" alt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  </a:t>
              </a:r>
              <a:endParaRPr lang="en-US" alt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张勇（两翼）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吴梦莹（要客）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刘辰瑞（项目经理）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解决方案（待定）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26" name="文本框 125"/>
            <p:cNvSpPr txBox="1"/>
            <p:nvPr>
              <p:custDataLst>
                <p:tags r:id="rId16"/>
              </p:custDataLst>
            </p:nvPr>
          </p:nvSpPr>
          <p:spPr>
            <a:xfrm>
              <a:off x="6787" y="3944"/>
              <a:ext cx="3483" cy="571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71741" rIns="71741" anchor="ctr" anchorCtr="0">
              <a:noAutofit/>
            </a:bodyPr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田玲玲(党政） 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杨依颖（交通）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待招客户经理1人冯雅琪（售前）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解决方案（待定）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项目经理（待定）</a:t>
              </a:r>
              <a:endParaRPr lang="zh-CN" altLang="en-US" sz="1800" dirty="0">
                <a:ln>
                  <a:noFill/>
                </a:ln>
                <a:solidFill>
                  <a:srgbClr val="FF0000"/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27" name="文本框 126"/>
            <p:cNvSpPr txBox="1"/>
            <p:nvPr>
              <p:custDataLst>
                <p:tags r:id="rId17"/>
              </p:custDataLst>
            </p:nvPr>
          </p:nvSpPr>
          <p:spPr>
            <a:xfrm>
              <a:off x="11654" y="3964"/>
              <a:ext cx="3443" cy="57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71741" rIns="71741" anchor="ctr" anchorCtr="0">
              <a:noAutofit/>
            </a:bodyPr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魏志泽（云、集团客户）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客户经理2人（待定）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marL="0" lv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rgbClr val="C00000"/>
                </a:buClr>
                <a:buNone/>
              </a:pPr>
              <a:r>
                <a:rPr lang="zh-CN" sz="1800" dirty="0">
                  <a:solidFill>
                    <a:schemeClr val="accent6">
                      <a:lumMod val="25000"/>
                    </a:schemeClr>
                  </a:solidFill>
                  <a:ea typeface="微软雅黑" panose="020B0503020204020204" pitchFamily="34" charset="-122"/>
                  <a:cs typeface="+mn-ea"/>
                  <a:sym typeface="+mn-ea"/>
                </a:rPr>
                <a:t>解决方案（待定）</a:t>
              </a:r>
              <a:endParaRPr lang="zh-CN" sz="1800" dirty="0">
                <a:solidFill>
                  <a:schemeClr val="accent6">
                    <a:lumMod val="25000"/>
                  </a:schemeClr>
                </a:solidFill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</p:grpSp>
      <p:graphicFrame>
        <p:nvGraphicFramePr>
          <p:cNvPr id="3" name="表格 2"/>
          <p:cNvGraphicFramePr/>
          <p:nvPr/>
        </p:nvGraphicFramePr>
        <p:xfrm>
          <a:off x="190500" y="739775"/>
          <a:ext cx="3550920" cy="1649730"/>
        </p:xfrm>
        <a:graphic>
          <a:graphicData uri="http://schemas.openxmlformats.org/drawingml/2006/table">
            <a:tbl>
              <a:tblPr/>
              <a:tblGrid>
                <a:gridCol w="909955"/>
                <a:gridCol w="1320800"/>
                <a:gridCol w="1320165"/>
              </a:tblGrid>
              <a:tr h="82486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部门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新签合同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预算（万元）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利润预算目标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486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营销二部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16000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Tm="2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-96520" y="-26035"/>
            <a:ext cx="3058160" cy="67564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0" indent="457200" algn="l" eaLnBrk="1" latinLnBrk="0" hangingPunct="1">
              <a:lnSpc>
                <a:spcPct val="190000"/>
              </a:lnSpc>
              <a:buClrTx/>
              <a:buSzTx/>
              <a:buNone/>
            </a:pPr>
            <a:r>
              <a:rPr lang="zh-CN" altLang="en-US" sz="20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聚焦客户</a:t>
            </a:r>
            <a:endParaRPr lang="zh-CN" altLang="en-US" sz="2000" dirty="0">
              <a:ln>
                <a:noFill/>
              </a:ln>
              <a:solidFill>
                <a:schemeClr val="accent6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4079095" y="785935"/>
            <a:ext cx="38557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defTabSz="914400" fontAlgn="base"/>
            <a:r>
              <a:rPr lang="zh-CN" altLang="en-US" sz="3600" b="1">
                <a:solidFill>
                  <a:schemeClr val="accent5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聚焦行业头部客户</a:t>
            </a:r>
            <a:endParaRPr lang="zh-CN" altLang="en-US" sz="3600" b="1">
              <a:solidFill>
                <a:schemeClr val="accent5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13" name="图片 12" descr="343435383036303b343532343134393bcdb7c4d4b7e7b1a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396" y="2283922"/>
            <a:ext cx="554713" cy="554713"/>
          </a:xfrm>
          <a:prstGeom prst="rect">
            <a:avLst/>
          </a:prstGeom>
        </p:spPr>
      </p:pic>
      <p:sp>
        <p:nvSpPr>
          <p:cNvPr id="165" name="文本框 164"/>
          <p:cNvSpPr txBox="1"/>
          <p:nvPr>
            <p:custDataLst>
              <p:tags r:id="rId5"/>
            </p:custDataLst>
          </p:nvPr>
        </p:nvSpPr>
        <p:spPr>
          <a:xfrm>
            <a:off x="1139190" y="1950085"/>
            <a:ext cx="3539490" cy="177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914400" fontAlgn="auto">
              <a:lnSpc>
                <a:spcPts val="1540"/>
              </a:lnSpc>
            </a:pPr>
            <a:r>
              <a:rPr lang="zh-CN" altLang="en-US" sz="2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运营商政企</a:t>
            </a:r>
            <a:endParaRPr lang="zh-CN" altLang="en-US" sz="32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 fontAlgn="auto">
              <a:lnSpc>
                <a:spcPts val="1540"/>
              </a:lnSpc>
            </a:pP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 defTabSz="914400" fontAlgn="auto">
              <a:lnSpc>
                <a:spcPts val="1540"/>
              </a:lnSpc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电信政企客户部、行业BD云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ts val="1540"/>
              </a:lnSpc>
              <a:buFont typeface="Wingdings" panose="05000000000000000000" charset="0"/>
              <a:buChar char="ü"/>
            </a:pP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914400" fontAlgn="auto">
              <a:lnSpc>
                <a:spcPts val="1540"/>
              </a:lnSpc>
              <a:buFont typeface="Wingdings" panose="05000000000000000000" charset="0"/>
              <a:buNone/>
            </a:pPr>
            <a:r>
              <a:rPr lang="en-US" altLang="zh-CN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中台、数智、云公司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ts val="1540"/>
              </a:lnSpc>
              <a:buFont typeface="Wingdings" panose="05000000000000000000" charset="0"/>
              <a:buChar char="ü"/>
            </a:pP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ts val="1540"/>
              </a:lnSpc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移动、联通、铁塔、广电政企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 fontAlgn="auto">
              <a:lnSpc>
                <a:spcPts val="1540"/>
              </a:lnSpc>
              <a:buFont typeface="Wingdings" panose="05000000000000000000" charset="0"/>
              <a:buNone/>
            </a:pPr>
            <a:r>
              <a:rPr lang="en-US" altLang="zh-CN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endParaRPr lang="en-US" altLang="zh-CN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defTabSz="914400" fontAlgn="auto">
              <a:lnSpc>
                <a:spcPts val="1540"/>
              </a:lnSpc>
              <a:buFont typeface="Wingdings" panose="05000000000000000000" charset="0"/>
              <a:buNone/>
            </a:pPr>
            <a:r>
              <a:rPr lang="en-US" altLang="zh-CN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业客户部、集团客户部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 fontAlgn="auto">
              <a:lnSpc>
                <a:spcPts val="1540"/>
              </a:lnSpc>
            </a:pP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 descr="343435383036303b343532343134393bcdb7c4d4b7e7b1a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533" y="3588870"/>
            <a:ext cx="554713" cy="554713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1004570" y="4077335"/>
            <a:ext cx="3578225" cy="1658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914400" fontAlgn="auto">
              <a:lnSpc>
                <a:spcPts val="1540"/>
              </a:lnSpc>
              <a:buClrTx/>
              <a:buSzTx/>
              <a:buFontTx/>
            </a:pPr>
            <a:r>
              <a:rPr lang="zh-CN" altLang="en-US" sz="2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要客</a:t>
            </a:r>
            <a:endParaRPr lang="zh-CN" altLang="en-US" sz="2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 fontAlgn="auto">
              <a:lnSpc>
                <a:spcPts val="1540"/>
              </a:lnSpc>
              <a:buClrTx/>
              <a:buSzTx/>
              <a:buFontTx/>
            </a:pPr>
            <a:endParaRPr lang="zh-CN" altLang="en-US" sz="2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战支、武警、联勤保障、地州军区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军校、医院、国动、退役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 descr="343435383036303b343532343134393bcdb7c4d4b7e7b1a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2393" y="4984414"/>
            <a:ext cx="554713" cy="554713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13"/>
            </p:custDataLst>
          </p:nvPr>
        </p:nvCxnSpPr>
        <p:spPr>
          <a:xfrm flipH="1">
            <a:off x="6774794" y="2428524"/>
            <a:ext cx="1190033" cy="0"/>
          </a:xfrm>
          <a:prstGeom prst="line">
            <a:avLst/>
          </a:prstGeom>
          <a:noFill/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4" name="直接连接符 33"/>
          <p:cNvCxnSpPr/>
          <p:nvPr>
            <p:custDataLst>
              <p:tags r:id="rId14"/>
            </p:custDataLst>
          </p:nvPr>
        </p:nvCxnSpPr>
        <p:spPr>
          <a:xfrm flipH="1">
            <a:off x="6815420" y="4438699"/>
            <a:ext cx="1190033" cy="0"/>
          </a:xfrm>
          <a:prstGeom prst="line">
            <a:avLst/>
          </a:prstGeom>
          <a:noFill/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35" name="图片 34" descr="a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 flipH="1" flipV="1">
            <a:off x="4616869" y="3677582"/>
            <a:ext cx="1221767" cy="1312527"/>
          </a:xfrm>
          <a:prstGeom prst="rect">
            <a:avLst/>
          </a:prstGeom>
        </p:spPr>
      </p:pic>
      <p:pic>
        <p:nvPicPr>
          <p:cNvPr id="38" name="图片 37" descr="b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77724" y="2467874"/>
            <a:ext cx="1590517" cy="1819640"/>
          </a:xfrm>
          <a:prstGeom prst="rect">
            <a:avLst/>
          </a:prstGeom>
        </p:spPr>
      </p:pic>
      <p:pic>
        <p:nvPicPr>
          <p:cNvPr id="40" name="图片 39" descr="c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0800000" flipH="1" flipV="1">
            <a:off x="5293442" y="2125780"/>
            <a:ext cx="1781558" cy="1068808"/>
          </a:xfrm>
          <a:prstGeom prst="rect">
            <a:avLst/>
          </a:prstGeom>
        </p:spPr>
      </p:pic>
      <p:pic>
        <p:nvPicPr>
          <p:cNvPr id="42" name="图片 41" descr="d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10800000" flipH="1" flipV="1">
            <a:off x="6517746" y="2428524"/>
            <a:ext cx="986299" cy="1434386"/>
          </a:xfrm>
          <a:prstGeom prst="rect">
            <a:avLst/>
          </a:prstGeom>
        </p:spPr>
      </p:pic>
      <p:pic>
        <p:nvPicPr>
          <p:cNvPr id="44" name="图片 43" descr="f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864023" y="3248536"/>
            <a:ext cx="1591152" cy="1681912"/>
          </a:xfrm>
          <a:prstGeom prst="rect">
            <a:avLst/>
          </a:prstGeom>
        </p:spPr>
      </p:pic>
      <p:pic>
        <p:nvPicPr>
          <p:cNvPr id="46" name="图片 45" descr="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10800000" flipH="1" flipV="1">
            <a:off x="5330253" y="4323056"/>
            <a:ext cx="1722533" cy="1360127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33"/>
            </p:custDataLst>
          </p:nvPr>
        </p:nvSpPr>
        <p:spPr>
          <a:xfrm>
            <a:off x="5876717" y="2317455"/>
            <a:ext cx="546464" cy="460146"/>
          </a:xfrm>
          <a:prstGeom prst="rect">
            <a:avLst/>
          </a:prstGeom>
          <a:noFill/>
        </p:spPr>
        <p:txBody>
          <a:bodyPr wrap="none" rtlCol="0">
            <a:normAutofit/>
          </a:bodyPr>
          <a:p>
            <a:pPr defTabSz="914400" fontAlgn="base"/>
            <a:r>
              <a:rPr lang="en-US" altLang="zh-CN" sz="2400" b="1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01</a:t>
            </a:r>
            <a:endParaRPr lang="en-US" altLang="zh-CN" sz="2400" b="1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34"/>
            </p:custDataLst>
          </p:nvPr>
        </p:nvSpPr>
        <p:spPr>
          <a:xfrm>
            <a:off x="5015449" y="2999105"/>
            <a:ext cx="582640" cy="460146"/>
          </a:xfrm>
          <a:prstGeom prst="rect">
            <a:avLst/>
          </a:prstGeom>
          <a:noFill/>
        </p:spPr>
        <p:txBody>
          <a:bodyPr wrap="none" rtlCol="0">
            <a:normAutofit/>
          </a:bodyPr>
          <a:p>
            <a:pPr defTabSz="914400" fontAlgn="base"/>
            <a:r>
              <a:rPr lang="en-US" altLang="zh-CN" sz="2400" b="1">
                <a:solidFill>
                  <a:schemeClr val="tx1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02</a:t>
            </a:r>
            <a:endParaRPr lang="en-US" altLang="zh-CN" sz="2400" b="1">
              <a:solidFill>
                <a:schemeClr val="tx1">
                  <a:lumMod val="2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35"/>
            </p:custDataLst>
          </p:nvPr>
        </p:nvSpPr>
        <p:spPr>
          <a:xfrm>
            <a:off x="4812351" y="3989212"/>
            <a:ext cx="583910" cy="460146"/>
          </a:xfrm>
          <a:prstGeom prst="rect">
            <a:avLst/>
          </a:prstGeom>
          <a:noFill/>
        </p:spPr>
        <p:txBody>
          <a:bodyPr wrap="none" rtlCol="0">
            <a:normAutofit/>
          </a:bodyPr>
          <a:p>
            <a:pPr defTabSz="914400" fontAlgn="base"/>
            <a:r>
              <a:rPr lang="en-US" altLang="zh-CN" sz="2400" b="1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03</a:t>
            </a:r>
            <a:endParaRPr lang="en-US" altLang="zh-CN" sz="2400" b="1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36"/>
            </p:custDataLst>
          </p:nvPr>
        </p:nvSpPr>
        <p:spPr>
          <a:xfrm>
            <a:off x="6871266" y="3071460"/>
            <a:ext cx="585812" cy="460146"/>
          </a:xfrm>
          <a:prstGeom prst="rect">
            <a:avLst/>
          </a:prstGeom>
          <a:noFill/>
        </p:spPr>
        <p:txBody>
          <a:bodyPr wrap="none" rtlCol="0">
            <a:normAutofit/>
          </a:bodyPr>
          <a:p>
            <a:pPr defTabSz="914400" fontAlgn="base"/>
            <a:r>
              <a:rPr lang="en-US" altLang="zh-CN" sz="2400" b="1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05</a:t>
            </a:r>
            <a:endParaRPr lang="en-US" altLang="zh-CN" sz="2400" b="1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7"/>
            </p:custDataLst>
          </p:nvPr>
        </p:nvSpPr>
        <p:spPr>
          <a:xfrm>
            <a:off x="6454913" y="4006982"/>
            <a:ext cx="589622" cy="460146"/>
          </a:xfrm>
          <a:prstGeom prst="rect">
            <a:avLst/>
          </a:prstGeom>
          <a:noFill/>
        </p:spPr>
        <p:txBody>
          <a:bodyPr wrap="none" rtlCol="0">
            <a:normAutofit/>
          </a:bodyPr>
          <a:p>
            <a:pPr defTabSz="914400" fontAlgn="base"/>
            <a:r>
              <a:rPr lang="en-US" altLang="zh-CN" sz="2400" b="1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04</a:t>
            </a:r>
            <a:endParaRPr lang="en-US" altLang="zh-CN" sz="2400" b="1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52" name="图片 51" descr="343435383036303b343532343134393bcdb7c4d4b7e7b1a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flipH="1">
            <a:off x="10998509" y="4198850"/>
            <a:ext cx="554713" cy="554713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41"/>
            </p:custDataLst>
          </p:nvPr>
        </p:nvSpPr>
        <p:spPr>
          <a:xfrm flipH="1">
            <a:off x="7896162" y="4151141"/>
            <a:ext cx="3130262" cy="1983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2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其它</a:t>
            </a:r>
            <a:endParaRPr lang="zh-CN" altLang="en-US" sz="2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各级政府信息办、厅、局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US" altLang="zh-CN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小能源行业头部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生态、厂家、通服协同体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图片 53" descr="343435383036303b343532343134393bcdb7c4d4b7e7b1a9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 flipH="1">
            <a:off x="10998509" y="2068657"/>
            <a:ext cx="554713" cy="554713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45"/>
            </p:custDataLst>
          </p:nvPr>
        </p:nvSpPr>
        <p:spPr>
          <a:xfrm flipH="1">
            <a:off x="7967345" y="1993265"/>
            <a:ext cx="3429635" cy="1732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defTabSz="914400" fontAlgn="auto">
              <a:lnSpc>
                <a:spcPts val="1540"/>
              </a:lnSpc>
            </a:pPr>
            <a:r>
              <a:rPr lang="en-US" altLang="zh-CN" sz="2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油气</a:t>
            </a:r>
            <a:endParaRPr lang="zh-CN" altLang="en-US" sz="2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 fontAlgn="auto">
              <a:lnSpc>
                <a:spcPts val="1540"/>
              </a:lnSpc>
            </a:pPr>
            <a:endParaRPr lang="zh-CN" altLang="en-US" sz="2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中石油、中石化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管道公司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800" b="1">
                <a:solidFill>
                  <a:schemeClr val="tx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油田公司</a:t>
            </a:r>
            <a:endParaRPr lang="zh-CN" altLang="en-US" sz="1800" b="1">
              <a:solidFill>
                <a:schemeClr val="tx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Tm="2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/>
          <p:nvPr>
            <p:custDataLst>
              <p:tags r:id="rId1"/>
            </p:custDataLst>
          </p:nvPr>
        </p:nvSpPr>
        <p:spPr>
          <a:xfrm flipH="1">
            <a:off x="8949571" y="3619937"/>
            <a:ext cx="3235127" cy="3235127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2"/>
            </p:custDataLst>
          </p:nvPr>
        </p:nvSpPr>
        <p:spPr>
          <a:xfrm>
            <a:off x="557530" y="1375410"/>
            <a:ext cx="11075035" cy="5256530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>
            <a:noFill/>
          </a:ln>
          <a:effectLst>
            <a:outerShdw blurRad="342900" dist="38100" dir="5400000" algn="t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839470" y="797560"/>
          <a:ext cx="10476230" cy="556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45"/>
                <a:gridCol w="791845"/>
                <a:gridCol w="1332230"/>
                <a:gridCol w="1656080"/>
                <a:gridCol w="5435600"/>
                <a:gridCol w="684530"/>
              </a:tblGrid>
              <a:tr h="788035">
                <a:tc gridSpan="6">
                  <a:txBody>
                    <a:bodyPr/>
                    <a:p>
                      <a:pPr algn="ctr" fontAlgn="b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u="sng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营销二部</a:t>
                      </a:r>
                      <a:r>
                        <a:rPr lang="en-US" altLang="zh-CN" sz="1800" b="1" u="sng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800" b="1" u="sng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年客户经理业务规划表</a:t>
                      </a:r>
                      <a:endParaRPr lang="zh-CN" altLang="en-US" sz="1800" b="1" u="sng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64845"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重点行业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重点区域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重点客户名称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469900"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马英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教育、林草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乌鲁木齐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新疆师范大学、自治区林草局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469265"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韩方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产数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全疆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电信政企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742950"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张勇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铁塔两翼、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油气行业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乌鲁木齐、独山子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铁塔智联、西部管道公司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547370"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吴梦莹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要客行业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全疆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69036</a:t>
                      </a: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部队、博州保密局、数发局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821690"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田玲玲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大应急、交通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全疆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国家能源集团、新疆煤炭设计院、中国铁路乌鲁木齐局、广汇能源、新矿集团、有色集团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547370"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杨依颖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交通、能源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全疆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交通厅、交投、国能集团、克拉玛依数字丝路、华电、兵团交建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508635"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魏志泽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智慧城市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全国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2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spc="120">
                          <a:gradFill>
                            <a:gsLst>
                              <a:gs pos="50410">
                                <a:srgbClr val="1F1F1F"/>
                              </a:gs>
                              <a:gs pos="0">
                                <a:srgbClr val="020202"/>
                              </a:gs>
                              <a:gs pos="100000">
                                <a:srgbClr val="424242"/>
                              </a:gs>
                            </a:gsLst>
                            <a:lin ang="5400000" scaled="1"/>
                          </a:gra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工信部、新疆维吾尔自治区通信管理局</a:t>
                      </a:r>
                      <a:endParaRPr lang="zh-CN" altLang="en-US"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 font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300" b="0" spc="120">
                        <a:gradFill>
                          <a:gsLst>
                            <a:gs pos="50410">
                              <a:srgbClr val="1F1F1F"/>
                            </a:gs>
                            <a:gs pos="0">
                              <a:srgbClr val="020202"/>
                            </a:gs>
                            <a:gs pos="100000">
                              <a:srgbClr val="424242"/>
                            </a:gs>
                          </a:gsLst>
                          <a:lin ang="5400000" scaled="1"/>
                        </a:gra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34645" y="105410"/>
            <a:ext cx="6096000" cy="39878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0" algn="l" defTabSz="266700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客户经理业务规划</a:t>
            </a:r>
            <a:endParaRPr lang="zh-CN" altLang="en-US" sz="2000">
              <a:solidFill>
                <a:schemeClr val="accent6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 spd="med" advTm="2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chemeClr val="accent6">
                    <a:lumMod val="25000"/>
                  </a:schemeClr>
                </a:solidFill>
              </a:rPr>
              <a:t> </a:t>
            </a:r>
            <a:endParaRPr lang="zh-CN" altLang="en-US">
              <a:solidFill>
                <a:schemeClr val="accent6">
                  <a:lumMod val="2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0500" y="0"/>
            <a:ext cx="6096000" cy="67564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0" indent="457200" algn="l" eaLnBrk="1" latinLnBrk="0" hangingPunct="1">
              <a:lnSpc>
                <a:spcPct val="190000"/>
              </a:lnSpc>
              <a:buClrTx/>
              <a:buSzTx/>
              <a:buNone/>
            </a:pPr>
            <a:r>
              <a:rPr lang="zh-CN" altLang="en-US" sz="2000">
                <a:solidFill>
                  <a:schemeClr val="accent6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聚焦重点行业攻坚</a:t>
            </a:r>
            <a:endParaRPr lang="zh-CN" altLang="en-US" sz="2000" dirty="0">
              <a:ln>
                <a:noFill/>
              </a:ln>
              <a:solidFill>
                <a:schemeClr val="accent6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蜂窝组织结构图(3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35095" y="2419985"/>
            <a:ext cx="4218305" cy="402463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78790" y="765175"/>
            <a:ext cx="11809730" cy="181292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171450" indent="-171450" algn="l" defTabSz="914400" eaLnBrk="1" latinLnBrk="0" hangingPunct="1">
              <a:lnSpc>
                <a:spcPct val="140000"/>
              </a:lnSpc>
              <a:buClrTx/>
              <a:buSzTx/>
              <a:buFont typeface="Wingdings" panose="05000000000000000000" charset="0"/>
              <a:buBlip>
                <a:blip r:embed="rId4"/>
              </a:buBlip>
            </a:pPr>
            <a:r>
              <a:rPr lang="zh-CN" altLang="en-US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深化三个木本行业：产数：持续构建</a:t>
            </a:r>
            <a:r>
              <a:rPr lang="en-US" altLang="zh-CN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“</a:t>
            </a:r>
            <a:r>
              <a:rPr lang="zh-CN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总集</a:t>
            </a:r>
            <a:r>
              <a:rPr lang="en-US" altLang="zh-CN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+</a:t>
            </a:r>
            <a:r>
              <a:rPr lang="zh-CN" altLang="en-US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维护服务</a:t>
            </a:r>
            <a:r>
              <a:rPr lang="en-US" altLang="zh-CN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”</a:t>
            </a:r>
            <a:r>
              <a:rPr lang="zh-CN" altLang="en-US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优势，迭代解决方案，深耕传统优势领域。两翼：横向拉通，纵向</a:t>
            </a:r>
            <a:endParaRPr lang="zh-CN" altLang="en-US" sz="1600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0" indent="0" algn="l" defTabSz="914400" eaLnBrk="1" latinLnBrk="0" hangingPunct="1">
              <a:lnSpc>
                <a:spcPct val="14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                                  </a:t>
            </a:r>
            <a:r>
              <a:rPr lang="zh-CN" altLang="en-US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到底，与事业部共同拓展两翼地州公司。</a:t>
            </a:r>
            <a:endParaRPr lang="zh-CN" altLang="en-US" sz="1600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0" indent="0" algn="l" defTabSz="914400" eaLnBrk="1" latinLnBrk="0" hangingPunct="1">
              <a:lnSpc>
                <a:spcPct val="14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                                  </a:t>
            </a:r>
            <a:r>
              <a:rPr lang="zh-CN" altLang="en-US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油气：加强行业理解及洞察，加强专业能力提升，重点跟踪维护业务；</a:t>
            </a:r>
            <a:endParaRPr lang="zh-CN" altLang="en-US" sz="1600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171450" indent="-171450" algn="l" defTabSz="914400" eaLnBrk="1" latinLnBrk="0" hangingPunct="1">
              <a:lnSpc>
                <a:spcPct val="140000"/>
              </a:lnSpc>
              <a:buClrTx/>
              <a:buSzTx/>
              <a:buFont typeface="Wingdings" panose="05000000000000000000" charset="0"/>
              <a:buBlip>
                <a:blip r:embed="rId4"/>
              </a:buBlip>
            </a:pPr>
            <a:r>
              <a:rPr lang="zh-CN" altLang="en-US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打造二个千万级赛道：要客：完善营销活动，聚焦重点地州；能源：把握新疆区域重点，快速提升解决方案能力</a:t>
            </a:r>
            <a:endParaRPr lang="zh-CN" altLang="en-US" sz="1600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171450" indent="-171450" algn="l" defTabSz="914400" eaLnBrk="1" latinLnBrk="0" hangingPunct="1">
              <a:lnSpc>
                <a:spcPct val="140000"/>
              </a:lnSpc>
              <a:buClrTx/>
              <a:buSzTx/>
              <a:buFont typeface="Wingdings" panose="05000000000000000000" charset="0"/>
              <a:buBlip>
                <a:blip r:embed="rId4"/>
              </a:buBlip>
            </a:pPr>
            <a:r>
              <a:rPr lang="zh-CN" altLang="en-US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培育二新兴市场：智慧城市、大应急</a:t>
            </a:r>
            <a:r>
              <a:rPr lang="en-US" altLang="zh-CN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/</a:t>
            </a:r>
            <a:r>
              <a:rPr lang="zh-CN" altLang="en-US" sz="16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大安全：把握市场窗口期，提升市场份额；</a:t>
            </a:r>
            <a:endParaRPr lang="zh-CN" altLang="en-US" sz="1600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7735570" y="5461635"/>
            <a:ext cx="3895090" cy="64833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noAutofit/>
          </a:bodyPr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基础设施、数字政府、社会治理、应急安全</a:t>
            </a:r>
            <a:endParaRPr lang="zh-CN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设计</a:t>
            </a:r>
            <a:r>
              <a:rPr lang="en-US" alt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+</a:t>
            </a:r>
            <a:r>
              <a:rPr lang="zh-CN" altLang="en-US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集成提规模，数据治理</a:t>
            </a:r>
            <a:r>
              <a:rPr lang="en-US" alt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+</a:t>
            </a:r>
            <a:r>
              <a:rPr lang="zh-CN" altLang="en-US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运营提能力</a:t>
            </a:r>
            <a:endParaRPr lang="zh-CN" altLang="en-US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8084185" y="2851785"/>
            <a:ext cx="3335020" cy="73723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285750" indent="-285750" algn="l" defTabSz="914400" eaLnBrk="1" fontAlgn="base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智慧园区、产业数字化转型</a:t>
            </a:r>
            <a:endParaRPr lang="zh-CN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285750" indent="-285750" algn="l" defTabSz="914400" eaLnBrk="1" fontAlgn="base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巩固既有市场、提供一揽子解决方案</a:t>
            </a:r>
            <a:endParaRPr lang="zh-CN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8102600" y="3862070"/>
            <a:ext cx="3156585" cy="73723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油气、管道监控、大数据应用、运营维护</a:t>
            </a:r>
            <a:endParaRPr lang="zh-CN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打造标杆项目</a:t>
            </a:r>
            <a:endParaRPr lang="zh-CN" altLang="en-US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62890" y="2836545"/>
            <a:ext cx="3693160" cy="11684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官兵学习、备战、训练和日常管理四大</a:t>
            </a:r>
            <a:endParaRPr lang="zh-CN" altLang="en-US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0" indent="0" algn="l" defTabSz="914400" eaLnBrk="1" fontAlgn="base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     </a:t>
            </a:r>
            <a:r>
              <a:rPr lang="zh-CN" altLang="en-US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方向，重点区域通信工程、智慧营区</a:t>
            </a:r>
            <a:endParaRPr lang="zh-CN" altLang="en-US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285750" lvl="0" indent="-285750" algn="l" defTabSz="914400" eaLnBrk="1" fontAlgn="base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强化自拓自交付，实现业务快速增长</a:t>
            </a:r>
            <a:endParaRPr lang="zh-CN" altLang="en-US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 </a:t>
            </a:r>
            <a:endParaRPr lang="en-US" altLang="zh-CN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8"/>
            </p:custDataLst>
          </p:nvPr>
        </p:nvSpPr>
        <p:spPr>
          <a:xfrm>
            <a:off x="264160" y="4367530"/>
            <a:ext cx="2780030" cy="52197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油气、林草、森林消防</a:t>
            </a:r>
            <a:endParaRPr lang="zh-CN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铁塔地州行拓联动、区域联动</a:t>
            </a:r>
            <a:endParaRPr lang="zh-CN" altLang="en-US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190500" y="5229225"/>
            <a:ext cx="4202430" cy="73723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能源集团指挥中心及平台、电力输变电线路施工</a:t>
            </a:r>
            <a:endParaRPr lang="zh-CN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绿碳、新能源</a:t>
            </a:r>
            <a:endParaRPr lang="zh-CN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285750" indent="-285750" algn="l" defTabSz="91440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400" b="1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突出集团牵引作用；打造案例快速复制</a:t>
            </a:r>
            <a:endParaRPr lang="zh-CN" altLang="en-US" sz="14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94005" y="2687955"/>
            <a:ext cx="4063365" cy="38354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0" indent="457200" algn="l" defTabSz="914400" eaLnBrk="1" fontAlgn="base" latinLnBrk="0" hangingPunct="1">
              <a:lnSpc>
                <a:spcPct val="190000"/>
              </a:lnSpc>
              <a:buClrTx/>
              <a:buSzTx/>
              <a:buNone/>
            </a:pPr>
            <a:endParaRPr lang="zh-CN" altLang="en-US" sz="1000" b="1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59600" y="3502025"/>
            <a:ext cx="575945" cy="504190"/>
          </a:xfrm>
          <a:prstGeom prst="rect">
            <a:avLst/>
          </a:prstGeom>
          <a:solidFill>
            <a:srgbClr val="CDFF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567170" y="3357880"/>
            <a:ext cx="1046480" cy="5588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marL="0" indent="457200" algn="ctr" eaLnBrk="1" latinLnBrk="0" hangingPunct="1">
              <a:lnSpc>
                <a:spcPct val="190000"/>
              </a:lnSpc>
              <a:buClrTx/>
              <a:buSzTx/>
              <a:buNone/>
            </a:pPr>
            <a:r>
              <a:rPr lang="zh-CN" altLang="en-US" sz="1600" b="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油气</a:t>
            </a:r>
            <a:endParaRPr lang="zh-CN" altLang="en-US" sz="1600" b="0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 advTm="2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PA_库_形状 "/>
          <p:cNvSpPr/>
          <p:nvPr>
            <p:custDataLst>
              <p:tags r:id="rId1"/>
            </p:custDataLst>
          </p:nvPr>
        </p:nvSpPr>
        <p:spPr>
          <a:xfrm>
            <a:off x="4572667" y="3901190"/>
            <a:ext cx="2411810" cy="11332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28" y="0"/>
                  <a:pt x="5255" y="2250"/>
                  <a:pt x="3140" y="6751"/>
                </a:cubicBezTo>
                <a:cubicBezTo>
                  <a:pt x="1199" y="10882"/>
                  <a:pt x="160" y="16194"/>
                  <a:pt x="0" y="21600"/>
                </a:cubicBezTo>
                <a:lnTo>
                  <a:pt x="21600" y="21600"/>
                </a:lnTo>
                <a:cubicBezTo>
                  <a:pt x="21440" y="16194"/>
                  <a:pt x="20401" y="10882"/>
                  <a:pt x="18460" y="6751"/>
                </a:cubicBezTo>
                <a:cubicBezTo>
                  <a:pt x="16345" y="2250"/>
                  <a:pt x="13572" y="0"/>
                  <a:pt x="10800" y="0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>
                  <a:alpha val="0"/>
                </a:srgbClr>
              </a:gs>
            </a:gsLst>
            <a:lin ang="5400000" scaled="0"/>
          </a:gradFill>
          <a:ln w="12700">
            <a:miter lim="400000"/>
          </a:ln>
        </p:spPr>
        <p:txBody>
          <a:bodyPr lIns="22860" rIns="22860"/>
          <a:lstStyle/>
          <a:p>
            <a:pPr defTabSz="914400">
              <a:defRPr sz="3600">
                <a:solidFill>
                  <a:srgbClr val="737572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endParaRPr sz="180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PA_库_形状 "/>
          <p:cNvSpPr/>
          <p:nvPr>
            <p:custDataLst>
              <p:tags r:id="rId2"/>
            </p:custDataLst>
          </p:nvPr>
        </p:nvSpPr>
        <p:spPr>
          <a:xfrm>
            <a:off x="3536777" y="2927133"/>
            <a:ext cx="4483591" cy="21067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8028" y="0"/>
                  <a:pt x="5255" y="2250"/>
                  <a:pt x="3140" y="6751"/>
                </a:cubicBezTo>
                <a:cubicBezTo>
                  <a:pt x="1199" y="10882"/>
                  <a:pt x="160" y="16194"/>
                  <a:pt x="0" y="21600"/>
                </a:cubicBezTo>
                <a:lnTo>
                  <a:pt x="21600" y="21600"/>
                </a:lnTo>
                <a:cubicBezTo>
                  <a:pt x="21440" y="16194"/>
                  <a:pt x="20401" y="10882"/>
                  <a:pt x="18460" y="6751"/>
                </a:cubicBezTo>
                <a:cubicBezTo>
                  <a:pt x="16345" y="2250"/>
                  <a:pt x="13572" y="0"/>
                  <a:pt x="10800" y="0"/>
                </a:cubicBezTo>
                <a:close/>
              </a:path>
            </a:pathLst>
          </a:custGeom>
          <a:ln w="12700">
            <a:gradFill>
              <a:gsLst>
                <a:gs pos="0">
                  <a:srgbClr val="026AFF"/>
                </a:gs>
                <a:gs pos="100000">
                  <a:srgbClr val="026AFF">
                    <a:alpha val="0"/>
                  </a:srgbClr>
                </a:gs>
              </a:gsLst>
              <a:lin ang="5400000" scaled="1"/>
            </a:gradFill>
            <a:miter lim="400000"/>
          </a:ln>
        </p:spPr>
        <p:txBody>
          <a:bodyPr lIns="22860" rIns="22860"/>
          <a:lstStyle/>
          <a:p>
            <a:pPr defTabSz="914400">
              <a:defRPr sz="3600">
                <a:solidFill>
                  <a:srgbClr val="737572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endParaRPr sz="180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PA_库_Circle "/>
          <p:cNvSpPr/>
          <p:nvPr>
            <p:custDataLst>
              <p:tags r:id="rId3"/>
            </p:custDataLst>
          </p:nvPr>
        </p:nvSpPr>
        <p:spPr>
          <a:xfrm>
            <a:off x="7569272" y="4658250"/>
            <a:ext cx="762000" cy="762001"/>
          </a:xfrm>
          <a:prstGeom prst="ellipse">
            <a:avLst/>
          </a:prstGeom>
          <a:gradFill flip="none" rotWithShape="1">
            <a:gsLst>
              <a:gs pos="0">
                <a:srgbClr val="00FFFF"/>
              </a:gs>
              <a:gs pos="84000">
                <a:srgbClr val="016DF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1440" rIns="9144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4" name="PA_库_Circle "/>
          <p:cNvSpPr/>
          <p:nvPr>
            <p:custDataLst>
              <p:tags r:id="rId4"/>
            </p:custDataLst>
          </p:nvPr>
        </p:nvSpPr>
        <p:spPr>
          <a:xfrm>
            <a:off x="3179305" y="4658250"/>
            <a:ext cx="762001" cy="762001"/>
          </a:xfrm>
          <a:prstGeom prst="ellipse">
            <a:avLst/>
          </a:prstGeom>
          <a:gradFill flip="none" rotWithShape="1">
            <a:gsLst>
              <a:gs pos="0">
                <a:srgbClr val="00FFFF"/>
              </a:gs>
              <a:gs pos="84000">
                <a:srgbClr val="016DF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1440" rIns="9144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5" name="PA_库_Circle "/>
          <p:cNvSpPr/>
          <p:nvPr>
            <p:custDataLst>
              <p:tags r:id="rId5"/>
            </p:custDataLst>
          </p:nvPr>
        </p:nvSpPr>
        <p:spPr>
          <a:xfrm>
            <a:off x="5397572" y="2540795"/>
            <a:ext cx="762000" cy="762001"/>
          </a:xfrm>
          <a:prstGeom prst="ellipse">
            <a:avLst/>
          </a:prstGeom>
          <a:gradFill flip="none" rotWithShape="1">
            <a:gsLst>
              <a:gs pos="0">
                <a:srgbClr val="00FFFF"/>
              </a:gs>
              <a:gs pos="84000">
                <a:srgbClr val="016DFF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1440" rIns="9144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9" name="PA_库_形状 "/>
          <p:cNvSpPr/>
          <p:nvPr>
            <p:custDataLst>
              <p:tags r:id="rId6"/>
            </p:custDataLst>
          </p:nvPr>
        </p:nvSpPr>
        <p:spPr>
          <a:xfrm>
            <a:off x="3411419" y="4906200"/>
            <a:ext cx="297773" cy="266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92" y="3413"/>
                </a:moveTo>
                <a:cubicBezTo>
                  <a:pt x="18552" y="3413"/>
                  <a:pt x="18552" y="3413"/>
                  <a:pt x="18552" y="3413"/>
                </a:cubicBezTo>
                <a:cubicBezTo>
                  <a:pt x="18552" y="21600"/>
                  <a:pt x="18552" y="21600"/>
                  <a:pt x="18552" y="21600"/>
                </a:cubicBezTo>
                <a:cubicBezTo>
                  <a:pt x="19292" y="21600"/>
                  <a:pt x="19292" y="21600"/>
                  <a:pt x="19292" y="21600"/>
                </a:cubicBezTo>
                <a:cubicBezTo>
                  <a:pt x="20860" y="21600"/>
                  <a:pt x="21600" y="20722"/>
                  <a:pt x="21600" y="19406"/>
                </a:cubicBezTo>
                <a:cubicBezTo>
                  <a:pt x="21600" y="6046"/>
                  <a:pt x="21600" y="6046"/>
                  <a:pt x="21600" y="6046"/>
                </a:cubicBezTo>
                <a:cubicBezTo>
                  <a:pt x="21600" y="4730"/>
                  <a:pt x="20860" y="3413"/>
                  <a:pt x="19292" y="3413"/>
                </a:cubicBezTo>
                <a:close/>
                <a:moveTo>
                  <a:pt x="0" y="6046"/>
                </a:moveTo>
                <a:cubicBezTo>
                  <a:pt x="0" y="19406"/>
                  <a:pt x="0" y="19406"/>
                  <a:pt x="0" y="19406"/>
                </a:cubicBezTo>
                <a:cubicBezTo>
                  <a:pt x="0" y="20722"/>
                  <a:pt x="1132" y="21600"/>
                  <a:pt x="2308" y="21600"/>
                </a:cubicBezTo>
                <a:cubicBezTo>
                  <a:pt x="3092" y="21600"/>
                  <a:pt x="3092" y="21600"/>
                  <a:pt x="3092" y="21600"/>
                </a:cubicBezTo>
                <a:cubicBezTo>
                  <a:pt x="3092" y="3413"/>
                  <a:pt x="3092" y="3413"/>
                  <a:pt x="3092" y="3413"/>
                </a:cubicBezTo>
                <a:cubicBezTo>
                  <a:pt x="2308" y="3413"/>
                  <a:pt x="2308" y="3413"/>
                  <a:pt x="2308" y="3413"/>
                </a:cubicBezTo>
                <a:cubicBezTo>
                  <a:pt x="1132" y="3413"/>
                  <a:pt x="0" y="4730"/>
                  <a:pt x="0" y="6046"/>
                </a:cubicBezTo>
                <a:close/>
                <a:moveTo>
                  <a:pt x="14676" y="1268"/>
                </a:moveTo>
                <a:cubicBezTo>
                  <a:pt x="13892" y="829"/>
                  <a:pt x="12716" y="0"/>
                  <a:pt x="10800" y="0"/>
                </a:cubicBezTo>
                <a:cubicBezTo>
                  <a:pt x="8884" y="0"/>
                  <a:pt x="7708" y="829"/>
                  <a:pt x="6968" y="1268"/>
                </a:cubicBezTo>
                <a:cubicBezTo>
                  <a:pt x="6968" y="3413"/>
                  <a:pt x="6968" y="3413"/>
                  <a:pt x="6968" y="3413"/>
                </a:cubicBezTo>
                <a:cubicBezTo>
                  <a:pt x="4660" y="3413"/>
                  <a:pt x="4660" y="3413"/>
                  <a:pt x="4660" y="3413"/>
                </a:cubicBezTo>
                <a:cubicBezTo>
                  <a:pt x="4660" y="21600"/>
                  <a:pt x="4660" y="21600"/>
                  <a:pt x="4660" y="21600"/>
                </a:cubicBezTo>
                <a:cubicBezTo>
                  <a:pt x="16984" y="21600"/>
                  <a:pt x="16984" y="21600"/>
                  <a:pt x="16984" y="21600"/>
                </a:cubicBezTo>
                <a:cubicBezTo>
                  <a:pt x="16984" y="3413"/>
                  <a:pt x="16984" y="3413"/>
                  <a:pt x="16984" y="3413"/>
                </a:cubicBezTo>
                <a:cubicBezTo>
                  <a:pt x="14676" y="3413"/>
                  <a:pt x="14676" y="3413"/>
                  <a:pt x="14676" y="3413"/>
                </a:cubicBezTo>
                <a:lnTo>
                  <a:pt x="14676" y="1268"/>
                </a:lnTo>
                <a:close/>
                <a:moveTo>
                  <a:pt x="13108" y="3413"/>
                </a:moveTo>
                <a:cubicBezTo>
                  <a:pt x="8492" y="3413"/>
                  <a:pt x="8492" y="3413"/>
                  <a:pt x="8492" y="3413"/>
                </a:cubicBezTo>
                <a:cubicBezTo>
                  <a:pt x="8492" y="2145"/>
                  <a:pt x="8492" y="2145"/>
                  <a:pt x="8492" y="2145"/>
                </a:cubicBezTo>
                <a:cubicBezTo>
                  <a:pt x="8884" y="1707"/>
                  <a:pt x="9668" y="1268"/>
                  <a:pt x="10800" y="1268"/>
                </a:cubicBezTo>
                <a:cubicBezTo>
                  <a:pt x="11976" y="1268"/>
                  <a:pt x="12716" y="1707"/>
                  <a:pt x="13108" y="2145"/>
                </a:cubicBezTo>
                <a:lnTo>
                  <a:pt x="13108" y="3413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2860" rIns="22860" anchor="ctr"/>
          <a:lstStyle/>
          <a:p>
            <a:pPr defTabSz="914400">
              <a:defRPr sz="3600">
                <a:solidFill>
                  <a:srgbClr val="7E7E7E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endParaRPr sz="180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PA_库_形状 "/>
          <p:cNvSpPr/>
          <p:nvPr>
            <p:custDataLst>
              <p:tags r:id="rId7"/>
            </p:custDataLst>
          </p:nvPr>
        </p:nvSpPr>
        <p:spPr>
          <a:xfrm>
            <a:off x="5650165" y="2790454"/>
            <a:ext cx="256815" cy="2626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25" h="20507" extrusionOk="0">
                <a:moveTo>
                  <a:pt x="12855" y="13320"/>
                </a:moveTo>
                <a:cubicBezTo>
                  <a:pt x="12855" y="13320"/>
                  <a:pt x="21284" y="7135"/>
                  <a:pt x="20470" y="435"/>
                </a:cubicBezTo>
                <a:lnTo>
                  <a:pt x="20470" y="60"/>
                </a:lnTo>
                <a:cubicBezTo>
                  <a:pt x="20039" y="60"/>
                  <a:pt x="20039" y="60"/>
                  <a:pt x="20039" y="60"/>
                </a:cubicBezTo>
                <a:cubicBezTo>
                  <a:pt x="13286" y="-783"/>
                  <a:pt x="7299" y="7557"/>
                  <a:pt x="7299" y="7557"/>
                </a:cubicBezTo>
                <a:cubicBezTo>
                  <a:pt x="2222" y="6667"/>
                  <a:pt x="2653" y="7932"/>
                  <a:pt x="115" y="13320"/>
                </a:cubicBezTo>
                <a:cubicBezTo>
                  <a:pt x="-316" y="14585"/>
                  <a:pt x="546" y="14585"/>
                  <a:pt x="1360" y="14585"/>
                </a:cubicBezTo>
                <a:cubicBezTo>
                  <a:pt x="2222" y="14164"/>
                  <a:pt x="3899" y="13742"/>
                  <a:pt x="3899" y="13742"/>
                </a:cubicBezTo>
                <a:cubicBezTo>
                  <a:pt x="6916" y="16647"/>
                  <a:pt x="6916" y="16647"/>
                  <a:pt x="6916" y="16647"/>
                </a:cubicBezTo>
                <a:cubicBezTo>
                  <a:pt x="6916" y="16647"/>
                  <a:pt x="6437" y="18287"/>
                  <a:pt x="6054" y="19130"/>
                </a:cubicBezTo>
                <a:cubicBezTo>
                  <a:pt x="5623" y="19974"/>
                  <a:pt x="6054" y="20817"/>
                  <a:pt x="6916" y="20395"/>
                </a:cubicBezTo>
                <a:cubicBezTo>
                  <a:pt x="12424" y="17865"/>
                  <a:pt x="13669" y="18287"/>
                  <a:pt x="12855" y="13320"/>
                </a:cubicBezTo>
                <a:close/>
                <a:moveTo>
                  <a:pt x="14100" y="6245"/>
                </a:moveTo>
                <a:cubicBezTo>
                  <a:pt x="13286" y="5449"/>
                  <a:pt x="13286" y="4605"/>
                  <a:pt x="14100" y="3762"/>
                </a:cubicBezTo>
                <a:cubicBezTo>
                  <a:pt x="14962" y="2965"/>
                  <a:pt x="16207" y="2965"/>
                  <a:pt x="16638" y="3762"/>
                </a:cubicBezTo>
                <a:cubicBezTo>
                  <a:pt x="17500" y="4605"/>
                  <a:pt x="17500" y="5449"/>
                  <a:pt x="16638" y="6245"/>
                </a:cubicBezTo>
                <a:cubicBezTo>
                  <a:pt x="16207" y="7135"/>
                  <a:pt x="14962" y="7135"/>
                  <a:pt x="14100" y="624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2860" rIns="22860" anchor="ctr"/>
          <a:lstStyle/>
          <a:p>
            <a:pPr defTabSz="914400">
              <a:defRPr sz="3600">
                <a:solidFill>
                  <a:srgbClr val="7E7E7E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endParaRPr sz="180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1" name="PA_库_形状 "/>
          <p:cNvSpPr/>
          <p:nvPr>
            <p:custDataLst>
              <p:tags r:id="rId8"/>
            </p:custDataLst>
          </p:nvPr>
        </p:nvSpPr>
        <p:spPr>
          <a:xfrm>
            <a:off x="7847952" y="4899062"/>
            <a:ext cx="288647" cy="280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20" h="20333" extrusionOk="0">
                <a:moveTo>
                  <a:pt x="2643" y="13922"/>
                </a:moveTo>
                <a:cubicBezTo>
                  <a:pt x="1172" y="15443"/>
                  <a:pt x="2307" y="17356"/>
                  <a:pt x="79" y="19703"/>
                </a:cubicBezTo>
                <a:cubicBezTo>
                  <a:pt x="-677" y="20876"/>
                  <a:pt x="4198" y="20441"/>
                  <a:pt x="6425" y="18138"/>
                </a:cubicBezTo>
                <a:cubicBezTo>
                  <a:pt x="7518" y="16965"/>
                  <a:pt x="7139" y="15443"/>
                  <a:pt x="6047" y="14313"/>
                </a:cubicBezTo>
                <a:cubicBezTo>
                  <a:pt x="4870" y="13140"/>
                  <a:pt x="3399" y="13140"/>
                  <a:pt x="2643" y="13922"/>
                </a:cubicBezTo>
                <a:close/>
                <a:moveTo>
                  <a:pt x="20167" y="58"/>
                </a:moveTo>
                <a:cubicBezTo>
                  <a:pt x="19452" y="-724"/>
                  <a:pt x="10123" y="6577"/>
                  <a:pt x="7518" y="9315"/>
                </a:cubicBezTo>
                <a:cubicBezTo>
                  <a:pt x="6425" y="10837"/>
                  <a:pt x="6047" y="11619"/>
                  <a:pt x="5248" y="12010"/>
                </a:cubicBezTo>
                <a:cubicBezTo>
                  <a:pt x="5248" y="12358"/>
                  <a:pt x="5627" y="12358"/>
                  <a:pt x="5627" y="12358"/>
                </a:cubicBezTo>
                <a:cubicBezTo>
                  <a:pt x="6047" y="12749"/>
                  <a:pt x="6425" y="12749"/>
                  <a:pt x="7139" y="13531"/>
                </a:cubicBezTo>
                <a:cubicBezTo>
                  <a:pt x="7518" y="13922"/>
                  <a:pt x="7896" y="14313"/>
                  <a:pt x="7896" y="14661"/>
                </a:cubicBezTo>
                <a:cubicBezTo>
                  <a:pt x="7896" y="15052"/>
                  <a:pt x="8274" y="15052"/>
                  <a:pt x="8274" y="15052"/>
                </a:cubicBezTo>
                <a:cubicBezTo>
                  <a:pt x="8988" y="14661"/>
                  <a:pt x="9745" y="13922"/>
                  <a:pt x="10879" y="12749"/>
                </a:cubicBezTo>
                <a:cubicBezTo>
                  <a:pt x="13443" y="10054"/>
                  <a:pt x="20923" y="797"/>
                  <a:pt x="20167" y="5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2860" rIns="22860" anchor="ctr"/>
          <a:lstStyle/>
          <a:p>
            <a:pPr defTabSz="914400">
              <a:defRPr sz="3600">
                <a:solidFill>
                  <a:srgbClr val="7E7E7E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endParaRPr sz="180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PA_库_958"/>
          <p:cNvSpPr/>
          <p:nvPr>
            <p:custDataLst>
              <p:tags r:id="rId9"/>
            </p:custDataLst>
          </p:nvPr>
        </p:nvSpPr>
        <p:spPr>
          <a:xfrm>
            <a:off x="4991172" y="4257961"/>
            <a:ext cx="1574800" cy="419735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9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</a:lstStyle>
          <a:p>
            <a:r>
              <a:rPr lang="zh-CN" altLang="en-US" sz="2400" b="1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下一步计划</a:t>
            </a:r>
            <a:endParaRPr lang="zh-CN" altLang="en-US" sz="2400" b="1" dirty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1" name="MH_SubTitle_1"/>
          <p:cNvSpPr txBox="1"/>
          <p:nvPr>
            <p:custDataLst>
              <p:tags r:id="rId10"/>
            </p:custDataLst>
          </p:nvPr>
        </p:nvSpPr>
        <p:spPr>
          <a:xfrm>
            <a:off x="4695093" y="759182"/>
            <a:ext cx="2209359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2000" b="1">
                <a:solidFill>
                  <a:schemeClr val="bg1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pPr algn="ctr"/>
            <a:r>
              <a:rPr lang="zh-CN" altLang="en-US" dirty="0">
                <a:ln>
                  <a:noFill/>
                </a:ln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产品解决方案</a:t>
            </a:r>
            <a:endParaRPr lang="zh-CN" altLang="en-US" dirty="0">
              <a:ln>
                <a:noFill/>
              </a:ln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4" name="MH_SubTitle_1"/>
          <p:cNvSpPr txBox="1"/>
          <p:nvPr>
            <p:custDataLst>
              <p:tags r:id="rId11"/>
            </p:custDataLst>
          </p:nvPr>
        </p:nvSpPr>
        <p:spPr>
          <a:xfrm>
            <a:off x="247650" y="550545"/>
            <a:ext cx="32893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2000" b="1">
                <a:solidFill>
                  <a:schemeClr val="bg1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营销</a:t>
            </a:r>
            <a:endParaRPr lang="zh-CN" altLang="en-US" dirty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12"/>
            </p:custDataLst>
          </p:nvPr>
        </p:nvSpPr>
        <p:spPr>
          <a:xfrm>
            <a:off x="34925" y="1054735"/>
            <a:ext cx="3758565" cy="5611495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+mn-ea"/>
              </a:rPr>
              <a:t>优化行业</a:t>
            </a:r>
            <a:r>
              <a:rPr lang="en-US" altLang="zh-CN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+mn-ea"/>
              </a:rPr>
              <a:t>+</a:t>
            </a: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+mn-ea"/>
              </a:rPr>
              <a:t>区域矩阵式营销体系，对事业部划小单元进行营销赋能，半年</a:t>
            </a:r>
            <a:r>
              <a:rPr lang="en-US" altLang="zh-CN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+mn-ea"/>
              </a:rPr>
              <a:t>1</a:t>
            </a: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+mn-ea"/>
              </a:rPr>
              <a:t>次</a:t>
            </a:r>
            <a:endParaRPr lang="zh-CN" altLang="en-US" sz="1600">
              <a:solidFill>
                <a:schemeClr val="tx1">
                  <a:lumMod val="10000"/>
                </a:schemeClr>
              </a:solidFill>
              <a:latin typeface="Microsoft YaHei UI" panose="020B0503020204020204" charset="-122"/>
              <a:ea typeface="Microsoft YaHei UI" panose="020B0503020204020204" charset="-122"/>
              <a:cs typeface="Open Sans" panose="020B0606030504020204" pitchFamily="34" charset="0"/>
              <a:sym typeface="+mn-ea"/>
            </a:endParaRPr>
          </a:p>
          <a:p>
            <a:pPr marL="285750" indent="-28575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+mn-ea"/>
              </a:rPr>
              <a:t>行业头部客户</a:t>
            </a:r>
            <a:r>
              <a:rPr sz="1600" spc="9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建立</a:t>
            </a: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区域</a:t>
            </a:r>
            <a:r>
              <a:rPr sz="1600" spc="9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客户清单</a:t>
            </a:r>
            <a:r>
              <a:rPr lang="zh-CN" sz="1600" spc="9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1600" spc="9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开展</a:t>
            </a:r>
            <a:r>
              <a:rPr sz="1600" spc="2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</a:t>
            </a:r>
            <a:r>
              <a:rPr sz="160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机发掘</a:t>
            </a:r>
            <a:r>
              <a:rPr lang="zh-CN" sz="160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，不</a:t>
            </a:r>
            <a:r>
              <a:rPr lang="zh-CN" sz="1600" spc="10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断完善</a:t>
            </a:r>
            <a:r>
              <a:rPr sz="1600" spc="10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客户</a:t>
            </a:r>
            <a:r>
              <a:rPr lang="zh-CN" sz="1600" spc="100" dirty="0">
                <a:solidFill>
                  <a:schemeClr val="tx1">
                    <a:lumMod val="1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、商机视图</a:t>
            </a:r>
            <a:endParaRPr lang="zh-CN" sz="1600" spc="100" dirty="0">
              <a:solidFill>
                <a:schemeClr val="tx1">
                  <a:lumMod val="1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+mn-ea"/>
              </a:rPr>
              <a:t>重点客户开展主体营销活动，每个客户每季度完成一次。（党建、体育等）</a:t>
            </a:r>
            <a:endParaRPr lang="zh-CN" altLang="en-US" sz="1600">
              <a:solidFill>
                <a:schemeClr val="tx1">
                  <a:lumMod val="10000"/>
                </a:schemeClr>
              </a:solidFill>
              <a:latin typeface="Microsoft YaHei UI" panose="020B0503020204020204" charset="-122"/>
              <a:ea typeface="Microsoft YaHei UI" panose="020B0503020204020204" charset="-122"/>
              <a:cs typeface="Open Sans" panose="020B0606030504020204" pitchFamily="34" charset="0"/>
              <a:sym typeface="+mn-ea"/>
            </a:endParaRPr>
          </a:p>
          <a:p>
            <a:pPr marL="285750" indent="-28575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+mn-ea"/>
              </a:rPr>
              <a:t>重大项目成立专班，定向支撑，</a:t>
            </a:r>
            <a:r>
              <a:rPr lang="zh-CN" altLang="en-US" sz="1600" dirty="0">
                <a:ln>
                  <a:noFill/>
                </a:ln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客户经理对口支持，针对事业部或售前优先支撑，投标无偿配合。</a:t>
            </a:r>
            <a:endParaRPr lang="zh-CN" altLang="en-US" sz="1600" dirty="0">
              <a:ln>
                <a:noFill/>
              </a:ln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285750" indent="-28575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sz="1600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集客业务拓展政策：油气、</a:t>
            </a:r>
            <a:endParaRPr lang="zh-CN" sz="1600" dirty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sz="1600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大应急、数字政府领域在利润率可一事一议，（短周期、不垫资、自交付）</a:t>
            </a:r>
            <a:endParaRPr lang="zh-CN" sz="1600" dirty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sz="1600" dirty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eaLnBrk="1" latinLnBrk="0" hangingPunct="1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endParaRPr lang="zh-CN" sz="1600" dirty="0">
              <a:ln>
                <a:noFill/>
              </a:ln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5" name="MH_SubTitle_1"/>
          <p:cNvSpPr txBox="1"/>
          <p:nvPr>
            <p:custDataLst>
              <p:tags r:id="rId13"/>
            </p:custDataLst>
          </p:nvPr>
        </p:nvSpPr>
        <p:spPr>
          <a:xfrm>
            <a:off x="9407525" y="795020"/>
            <a:ext cx="21234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2000" b="1">
                <a:solidFill>
                  <a:schemeClr val="bg1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pPr algn="l"/>
            <a:r>
              <a:rPr lang="zh-CN" altLang="en-US" dirty="0">
                <a:ln>
                  <a:noFill/>
                </a:ln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交付</a:t>
            </a:r>
            <a:endParaRPr lang="zh-CN" altLang="en-US" dirty="0">
              <a:ln>
                <a:noFill/>
              </a:ln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56" name="矩形 55"/>
          <p:cNvSpPr/>
          <p:nvPr>
            <p:custDataLst>
              <p:tags r:id="rId14"/>
            </p:custDataLst>
          </p:nvPr>
        </p:nvSpPr>
        <p:spPr>
          <a:xfrm>
            <a:off x="8687435" y="1364615"/>
            <a:ext cx="3134995" cy="526224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lvl="0"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sz="1600" dirty="0">
              <a:ln>
                <a:noFill/>
              </a:ln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培养自有专业人才，形成</a:t>
            </a:r>
            <a:r>
              <a:rPr lang="en-US" altLang="zh-CN" sz="160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2-3</a:t>
            </a: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人解决方案配合、项目自主管理、自主交付总包解决方案（项目）经理管理团队。</a:t>
            </a:r>
            <a:endParaRPr lang="zh-CN" altLang="en-US" sz="160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通过已有</a:t>
            </a: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项目，总结集中交付项目管理经验，输出各业务场景专业</a:t>
            </a:r>
            <a:r>
              <a:rPr lang="zh-CN" altLang="en-US" sz="1600" dirty="0">
                <a:ln>
                  <a:noFill/>
                </a:ln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交付白皮书。</a:t>
            </a:r>
            <a:endParaRPr lang="zh-CN" altLang="en-US" sz="1600" dirty="0">
              <a:ln>
                <a:noFill/>
              </a:ln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r>
              <a:rPr sz="1600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聚焦差异化:一站式一体化交付服务能力</a:t>
            </a:r>
            <a:r>
              <a:rPr lang="zh-CN" sz="1600" dirty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提升。</a:t>
            </a:r>
            <a:endParaRPr sz="1600" dirty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endParaRPr sz="1600" dirty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endParaRPr lang="zh-CN" altLang="en-US" sz="160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endParaRPr lang="zh-CN" sz="1600" b="0" spc="-30" dirty="0">
              <a:solidFill>
                <a:schemeClr val="tx1">
                  <a:lumMod val="1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endParaRPr lang="zh-CN" sz="1600" b="0" spc="-30" dirty="0">
              <a:ln>
                <a:noFill/>
              </a:ln>
              <a:solidFill>
                <a:schemeClr val="tx1">
                  <a:lumMod val="1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15"/>
            </p:custDataLst>
          </p:nvPr>
        </p:nvSpPr>
        <p:spPr>
          <a:xfrm>
            <a:off x="4078605" y="1312545"/>
            <a:ext cx="3826510" cy="2040255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Microsoft YaHei UI" panose="020B0503020204020204" charset="-122"/>
                <a:ea typeface="Microsoft YaHei UI" panose="020B0503020204020204" charset="-122"/>
                <a:cs typeface="Open Sans" panose="020B0606030504020204" pitchFamily="34" charset="0"/>
                <a:sym typeface="HarmonyOS Sans SC Light" panose="02010600030101010101" pitchFamily="2" charset="-122"/>
              </a:rPr>
              <a:t>整合内外部生态，促成与生态合作伙伴签约，不少于5家。</a:t>
            </a:r>
            <a:endParaRPr lang="zh-CN" altLang="en-US" sz="1600">
              <a:solidFill>
                <a:schemeClr val="tx1">
                  <a:lumMod val="10000"/>
                </a:schemeClr>
              </a:solidFill>
              <a:latin typeface="Microsoft YaHei UI" panose="020B0503020204020204" charset="-122"/>
              <a:ea typeface="Microsoft YaHei UI" panose="020B0503020204020204" charset="-122"/>
              <a:cs typeface="Open Sans" panose="020B0606030504020204" pitchFamily="34" charset="0"/>
              <a:sym typeface="HarmonyOS Sans SC Light" panose="02010600030101010101" pitchFamily="2" charset="-122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打造可复制、可推广的核心产品与解决方案</a:t>
            </a:r>
            <a:endParaRPr lang="zh-CN" altLang="en-US" sz="160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Wingdings" panose="05000000000000000000" charset="0"/>
              <a:buChar char="u"/>
            </a:pPr>
            <a:endParaRPr lang="zh-CN" altLang="en-US" sz="1600" b="0" dirty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</a:pPr>
            <a:endParaRPr lang="zh-CN" altLang="en-US" sz="1600" b="0" dirty="0">
              <a:ln>
                <a:noFill/>
              </a:ln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armonyOS Sans SC Light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19512" y="5632450"/>
            <a:ext cx="5080000" cy="808990"/>
          </a:xfrm>
          <a:prstGeom prst="rect">
            <a:avLst/>
          </a:prstGeom>
        </p:spPr>
        <p:txBody>
          <a:bodyPr>
            <a:spAutoFit/>
          </a:bodyPr>
          <a:p>
            <a:pPr marL="0" indent="4064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>
                <a:solidFill>
                  <a:schemeClr val="tx1">
                    <a:lumMod val="10000"/>
                  </a:schemeClr>
                </a:solidFill>
                <a:latin typeface="仿宋_GB2312"/>
                <a:ea typeface="仿宋_GB2312"/>
              </a:rPr>
              <a:t>每月开展</a:t>
            </a:r>
            <a:r>
              <a:rPr lang="en-US" altLang="zh-CN" sz="1600" b="0">
                <a:solidFill>
                  <a:schemeClr val="tx1">
                    <a:lumMod val="10000"/>
                  </a:schemeClr>
                </a:solidFill>
                <a:latin typeface="仿宋_GB2312"/>
                <a:ea typeface="仿宋_GB2312"/>
              </a:rPr>
              <a:t>1</a:t>
            </a:r>
            <a:r>
              <a:rPr lang="zh-CN" altLang="en-US" sz="1600" b="0">
                <a:solidFill>
                  <a:schemeClr val="tx1">
                    <a:lumMod val="10000"/>
                  </a:schemeClr>
                </a:solidFill>
                <a:latin typeface="仿宋_GB2312"/>
                <a:ea typeface="仿宋_GB2312"/>
              </a:rPr>
              <a:t>次市场调研，每季度开展一次主题营销活动，做好市场洞察。</a:t>
            </a:r>
            <a:endParaRPr lang="zh-CN" altLang="en-US" sz="1600" b="0">
              <a:solidFill>
                <a:schemeClr val="tx1">
                  <a:lumMod val="10000"/>
                </a:schemeClr>
              </a:solidFill>
              <a:latin typeface="仿宋_GB2312"/>
              <a:ea typeface="仿宋_GB2312"/>
            </a:endParaRPr>
          </a:p>
        </p:txBody>
      </p:sp>
      <p:sp>
        <p:nvSpPr>
          <p:cNvPr id="7" name="标题 1"/>
          <p:cNvSpPr txBox="1"/>
          <p:nvPr>
            <p:custDataLst>
              <p:tags r:id="rId16"/>
            </p:custDataLst>
          </p:nvPr>
        </p:nvSpPr>
        <p:spPr>
          <a:xfrm>
            <a:off x="46972" y="104000"/>
            <a:ext cx="9490644" cy="625896"/>
          </a:xfrm>
          <a:prstGeom prst="rect">
            <a:avLst/>
          </a:prstGeom>
          <a:ln>
            <a:noFill/>
          </a:ln>
        </p:spPr>
        <p:txBody>
          <a:bodyPr vert="horz" lIns="91368" tIns="45684" rIns="91368" bIns="45684" rtlCol="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细黑" panose="02010600040101010101" pitchFamily="2" charset="-122"/>
                <a:cs typeface="+mj-cs"/>
              </a:defRPr>
            </a:lvl1pPr>
          </a:lstStyle>
          <a:p>
            <a:pPr lvl="0" algn="l" fontAlgn="base">
              <a:lnSpc>
                <a:spcPct val="100000"/>
              </a:lnSpc>
              <a:buClrTx/>
              <a:buSzTx/>
              <a:buFontTx/>
            </a:pPr>
            <a:r>
              <a:rPr sz="2400" b="1" dirty="0" smtClean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营销体系完善</a:t>
            </a:r>
            <a:endParaRPr sz="2400" b="1" dirty="0" smtClean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标题 1"/>
          <p:cNvSpPr txBox="1"/>
          <p:nvPr>
            <p:custDataLst>
              <p:tags r:id="rId1"/>
            </p:custDataLst>
          </p:nvPr>
        </p:nvSpPr>
        <p:spPr>
          <a:xfrm>
            <a:off x="115985" y="118605"/>
            <a:ext cx="7630095" cy="625896"/>
          </a:xfrm>
          <a:prstGeom prst="rect">
            <a:avLst/>
          </a:prstGeom>
        </p:spPr>
        <p:txBody>
          <a:bodyPr vert="horz" lIns="91400" tIns="45701" rIns="91400" bIns="45701" rtlCol="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细黑" panose="02010600040101010101" pitchFamily="2" charset="-122"/>
                <a:cs typeface="+mj-cs"/>
              </a:defRPr>
            </a:lvl1pPr>
          </a:lstStyle>
          <a:p>
            <a:pPr lvl="0" algn="l" fontAlgn="base">
              <a:lnSpc>
                <a:spcPct val="100000"/>
              </a:lnSpc>
              <a:buClrTx/>
              <a:buSzTx/>
              <a:buFontTx/>
            </a:pPr>
            <a:r>
              <a:rPr lang="en-US" altLang="zh-CN" sz="2400" dirty="0" smtClean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2026</a:t>
            </a:r>
            <a:r>
              <a:rPr lang="zh-CN" altLang="en-US" sz="2400" dirty="0" smtClean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</a:t>
            </a:r>
            <a:r>
              <a:rPr lang="zh-CN" sz="2400" dirty="0" smtClean="0">
                <a:solidFill>
                  <a:schemeClr val="tx1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重点工作推进</a:t>
            </a:r>
            <a:endParaRPr lang="zh-CN" sz="2400" b="1" dirty="0" smtClean="0">
              <a:solidFill>
                <a:schemeClr val="tx1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标题 1"/>
          <p:cNvSpPr txBox="1"/>
          <p:nvPr>
            <p:custDataLst>
              <p:tags r:id="rId2"/>
            </p:custDataLst>
          </p:nvPr>
        </p:nvSpPr>
        <p:spPr>
          <a:xfrm>
            <a:off x="190500" y="2487930"/>
            <a:ext cx="11812905" cy="626110"/>
          </a:xfrm>
          <a:prstGeom prst="rect">
            <a:avLst/>
          </a:prstGeom>
          <a:ln>
            <a:noFill/>
          </a:ln>
        </p:spPr>
        <p:txBody>
          <a:bodyPr vert="horz" lIns="91400" tIns="45701" rIns="91400" bIns="45701" rtlCol="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细黑" panose="02010600040101010101" pitchFamily="2" charset="-122"/>
                <a:cs typeface="+mj-cs"/>
              </a:defRPr>
            </a:lvl1pPr>
          </a:lstStyle>
          <a:p>
            <a:pPr marL="0" lvl="0" indent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针对行业</a:t>
            </a: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区域矩阵式营销组织体系，从客户划分、商机管理、解决方案、生态伙伴等方面打造四张图，与事业部配合，全面推进各项工作。</a:t>
            </a:r>
            <a:endParaRPr lang="zh-CN" altLang="en-US" sz="2000" b="1" dirty="0" smtClean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0" indent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、参加不少于</a:t>
            </a: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场行业高端峰会与培训，深入学习智慧城市、通服智维、云业务等领域的前沿技术与营销模式；</a:t>
            </a:r>
            <a:endParaRPr lang="zh-CN" altLang="en-US" sz="2000" b="1" dirty="0" smtClean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0" indent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、整合客户信息、项目信息、服务信息，实现客户全生命周期管理；每月组织一次高层客户拜访活动、主题营销活动，提升与重点客户的战略合作层级。打造</a:t>
            </a: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3-5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个行业标杆项目，提升公司在新疆区域集客市场的品牌影响力。</a:t>
            </a:r>
            <a:endParaRPr lang="zh-CN" altLang="en-US" sz="2000" b="1" dirty="0" smtClean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0" indent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、推动营销二部向</a:t>
            </a: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专业化、精细化、规模化</a:t>
            </a:r>
            <a:r>
              <a:rPr lang="en-US" altLang="zh-CN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b="1" dirty="0" smtClean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方向发展，培养一支高素质的集客营销交付管理一体化团队；探索新的业务模式，拓展新兴市场。</a:t>
            </a:r>
            <a:endParaRPr lang="zh-CN" altLang="en-US" sz="2000" b="1" dirty="0" smtClean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 advTm="2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6400" y="909320"/>
            <a:ext cx="11280775" cy="353822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marL="0" indent="457200" algn="ctr" eaLnBrk="1" latinLnBrk="0" hangingPunct="1">
              <a:lnSpc>
                <a:spcPct val="190000"/>
              </a:lnSpc>
              <a:buClrTx/>
              <a:buSzTx/>
              <a:buNone/>
            </a:pP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“</a:t>
            </a:r>
            <a:r>
              <a:rPr lang="zh-CN" altLang="en-US" sz="28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散是满天星，聚是一团火</a:t>
            </a:r>
            <a:r>
              <a:rPr lang="en-US" altLang="zh-CN" sz="28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”</a:t>
            </a:r>
            <a:endParaRPr lang="zh-CN" altLang="en-US" sz="2800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0" indent="457200" algn="ctr" eaLnBrk="1" latinLnBrk="0" hangingPunct="1">
              <a:lnSpc>
                <a:spcPct val="190000"/>
              </a:lnSpc>
              <a:buClrTx/>
              <a:buSzTx/>
              <a:buNone/>
            </a:pPr>
            <a:endParaRPr lang="zh-CN" altLang="en-US" sz="1800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marL="0" indent="457200" algn="l" eaLnBrk="1" latinLnBrk="0" hangingPunct="1">
              <a:lnSpc>
                <a:spcPct val="190000"/>
              </a:lnSpc>
              <a:buClrTx/>
              <a:buSzTx/>
              <a:buNone/>
            </a:pPr>
            <a:r>
              <a:rPr lang="en-US" altLang="zh-CN" sz="14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    </a:t>
            </a:r>
            <a:r>
              <a:rPr lang="en-US" altLang="zh-CN" sz="18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   </a:t>
            </a:r>
            <a:r>
              <a:rPr lang="zh-CN" altLang="en-US" sz="18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这是</a:t>
            </a:r>
            <a:r>
              <a:rPr lang="en-US" altLang="zh-CN" sz="18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2025</a:t>
            </a:r>
            <a:r>
              <a:rPr lang="zh-CN" altLang="en-US" sz="1800" dirty="0">
                <a:ln>
                  <a:noFill/>
                </a:ln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年公司各划小单元间的真实写照，平日里，大家在各自岗位独当一面、发光发热，以专业能力扛起市场营销的各项职责；攻坚时，全员心往一处想、劲往一处使，凝聚成无坚不摧的合力，攻克一个又一个难题、拿下一个又一个成果。这份成绩，离不开每一位伙伴的全力以赴、精诚协作。未来，愿我们继续守初心、聚合力、展所长，以星火之力，共赴新征程、再创新佳绩！</a:t>
            </a:r>
            <a:endParaRPr lang="zh-CN" altLang="en-US" sz="1800" dirty="0">
              <a:ln>
                <a:noFill/>
              </a:ln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</p:spTree>
    <p:custDataLst>
      <p:tags r:id="rId1"/>
    </p:custDataLst>
  </p:cSld>
  <p:clrMapOvr>
    <a:masterClrMapping/>
  </p:clrMapOvr>
  <p:transition spd="med" advTm="2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1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43120" y="420253"/>
            <a:ext cx="2762250" cy="2762250"/>
          </a:xfrm>
          <a:prstGeom prst="rect">
            <a:avLst/>
          </a:prstGeom>
        </p:spPr>
      </p:pic>
      <p:sp>
        <p:nvSpPr>
          <p:cNvPr id="100009" name="AutoShape 3"/>
          <p:cNvSpPr/>
          <p:nvPr/>
        </p:nvSpPr>
        <p:spPr>
          <a:xfrm>
            <a:off x="1694389" y="4073108"/>
            <a:ext cx="8516203" cy="55018"/>
          </a:xfrm>
          <a:prstGeom prst="rect">
            <a:avLst/>
          </a:prstGeom>
          <a:gradFill>
            <a:gsLst>
              <a:gs pos="0">
                <a:srgbClr val="FFFFFF">
                  <a:alpha val="100000"/>
                </a:srgbClr>
              </a:gs>
              <a:gs pos="25000">
                <a:srgbClr val="C8152A">
                  <a:alpha val="100000"/>
                </a:srgbClr>
              </a:gs>
              <a:gs pos="53000">
                <a:srgbClr val="C8152A">
                  <a:alpha val="100000"/>
                </a:srgbClr>
              </a:gs>
              <a:gs pos="75000">
                <a:srgbClr val="C8152A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sp>
        <p:nvSpPr>
          <p:cNvPr id="100002" name="AutoShape 4"/>
          <p:cNvSpPr/>
          <p:nvPr/>
        </p:nvSpPr>
        <p:spPr>
          <a:xfrm>
            <a:off x="1210310" y="2837815"/>
            <a:ext cx="9558020" cy="9493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600">
                <a:solidFill>
                  <a:srgbClr val="C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THANKS</a:t>
            </a:r>
            <a:endParaRPr lang="en-US" sz="1100"/>
          </a:p>
        </p:txBody>
      </p:sp>
      <p:sp>
        <p:nvSpPr>
          <p:cNvPr id="100003" name="AutoShape 5"/>
          <p:cNvSpPr/>
          <p:nvPr/>
        </p:nvSpPr>
        <p:spPr>
          <a:xfrm>
            <a:off x="1694180" y="4630420"/>
            <a:ext cx="8515985" cy="10941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81000"/>
              </a:lnSpc>
              <a:spcBef>
                <a:spcPts val="1000"/>
              </a:spcBef>
              <a:defRPr/>
            </a:pPr>
            <a:endParaRPr lang="en-US" sz="1100"/>
          </a:p>
          <a:p>
            <a:pPr algn="ctr">
              <a:lnSpc>
                <a:spcPct val="81000"/>
              </a:lnSpc>
              <a:spcBef>
                <a:spcPts val="1000"/>
              </a:spcBef>
            </a:pPr>
            <a:endParaRPr lang="en-US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653915" y="4511040"/>
            <a:ext cx="2778760" cy="48450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感谢聆听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0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</p:tagLst>
</file>

<file path=ppt/tags/tag11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13"/>
  <p:tag name="KSO_WM_UNIT_LINE_FILL_TYPE" val="2"/>
</p:tagLst>
</file>

<file path=ppt/tags/tag12.xml><?xml version="1.0" encoding="utf-8"?>
<p:tagLst xmlns:p="http://schemas.openxmlformats.org/presentationml/2006/main">
  <p:tag name="KSO_WM_DIAGRAM_VIRTUALLY_FRAME" val="{&quot;height&quot;:247.9,&quot;left&quot;:319.35,&quot;top&quot;:179.15,&quot;width&quot;:428.8}"/>
</p:tagLst>
</file>

<file path=ppt/tags/tag13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FILL_FORE_SCHEMECOLOR_INDEX_BRIGHTNESS" val="0"/>
  <p:tag name="KSO_WM_UNIT_FILL_FORE_SCHEMECOLOR_INDEX" val="6"/>
  <p:tag name="KSO_WM_UNIT_FILL_TYPE" val="1"/>
</p:tagLst>
</file>

<file path=ppt/tags/tag15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TEXT_FILL_FORE_SCHEMECOLOR_INDEX_BRIGHTNESS" val="0"/>
  <p:tag name="KSO_WM_UNIT_TEXT_FILL_FORE_SCHEMECOLOR_INDEX" val="14"/>
  <p:tag name="KSO_WM_UNIT_TEXT_FILL_TYPE" val="1"/>
</p:tagLst>
</file>

<file path=ppt/tags/tag16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TEXT_FILL_FORE_SCHEMECOLOR_INDEX_BRIGHTNESS" val="0"/>
  <p:tag name="KSO_WM_UNIT_TEXT_FILL_FORE_SCHEMECOLOR_INDEX" val="14"/>
  <p:tag name="KSO_WM_UNIT_TEXT_FILL_TYPE" val="1"/>
</p:tagLst>
</file>

<file path=ppt/tags/tag17.xml><?xml version="1.0" encoding="utf-8"?>
<p:tagLst xmlns:p="http://schemas.openxmlformats.org/presentationml/2006/main">
  <p:tag name="KSO_WM_DIAGRAM_VIRTUALLY_FRAME" val="{&quot;height&quot;:247.9,&quot;left&quot;:319.35,&quot;top&quot;:179.15,&quot;width&quot;:428.8}"/>
</p:tagLst>
</file>

<file path=ppt/tags/tag18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FILL_FORE_SCHEMECOLOR_INDEX_BRIGHTNESS" val="0"/>
  <p:tag name="KSO_WM_UNIT_FILL_FORE_SCHEMECOLOR_INDEX" val="5"/>
  <p:tag name="KSO_WM_UNIT_FILL_TYPE" val="1"/>
</p:tagLst>
</file>

<file path=ppt/tags/tag19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FILL_FORE_SCHEMECOLOR_INDEX_BRIGHTNESS" val="0"/>
  <p:tag name="KSO_WM_UNIT_FILL_FORE_SCHEMECOLOR_INDEX" val="5"/>
  <p:tag name="KSO_WM_UNIT_FILL_TYPE" val="1"/>
</p:tagLst>
</file>

<file path=ppt/tags/tag20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1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2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FILL_FORE_SCHEMECOLOR_INDEX_BRIGHTNESS" val="0"/>
  <p:tag name="KSO_WM_UNIT_FILL_FORE_SCHEMECOLOR_INDEX" val="5"/>
  <p:tag name="KSO_WM_UNIT_FILL_TYPE" val="1"/>
</p:tagLst>
</file>

<file path=ppt/tags/tag23.xml><?xml version="1.0" encoding="utf-8"?>
<p:tagLst xmlns:p="http://schemas.openxmlformats.org/presentationml/2006/main">
  <p:tag name="KSO_WM_BEAUTIFY_FLAG" val=""/>
  <p:tag name="KSO_WM_DIAGRAM_VIRTUALLY_FRAME" val="{&quot;height&quot;:247.9,&quot;left&quot;:319.35,&quot;top&quot;:179.15,&quot;width&quot;:428.8}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p="http://schemas.openxmlformats.org/presentationml/2006/main">
  <p:tag name="KSO_WM_DIAGRAM_VIRTUALLY_FRAME" val="{&quot;height&quot;:247.9,&quot;left&quot;:319.35,&quot;top&quot;:179.15,&quot;width&quot;:428.8}"/>
  <p:tag name="KSO_WM_UNIT_FILL_FORE_SCHEMECOLOR_INDEX_BRIGHTNESS" val="0"/>
  <p:tag name="KSO_WM_UNIT_FILL_FORE_SCHEMECOLOR_INDEX" val="5"/>
  <p:tag name="KSO_WM_UNIT_FILL_TYPE" val="1"/>
</p:tagLst>
</file>

<file path=ppt/tags/tag25.xml><?xml version="1.0" encoding="utf-8"?>
<p:tagLst xmlns:p="http://schemas.openxmlformats.org/presentationml/2006/main">
  <p:tag name="KSO_WM_SLIDE_ID" val="custom20233208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208"/>
  <p:tag name="KSO_WM_SLIDE_TYPE" val="text"/>
  <p:tag name="KSO_WM_SLIDE_SUBTYPE" val="picTxt"/>
  <p:tag name="KSO_WM_SLIDE_SIZE" val="408.2*334.05"/>
  <p:tag name="KSO_WM_SLIDE_POSITION" val="484.95*15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6.xml><?xml version="1.0" encoding="utf-8"?>
<p:tagLst xmlns:p="http://schemas.openxmlformats.org/presentationml/2006/main">
  <p:tag name="KSO_WM_BEAUTIFY_FLAG" val=""/>
  <p:tag name="KSO_WM_UNIT_LINE_FORE_SCHEMECOLOR_INDEX_BRIGHTNESS" val="0"/>
  <p:tag name="KSO_WM_UNIT_LINE_FORE_SCHEMECOLOR_INDEX" val="5"/>
  <p:tag name="KSO_WM_UNIT_LINE_FILL_TYPE" val="2"/>
</p:tagLst>
</file>

<file path=ppt/tags/tag2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DIAGRAM_VIRTUALLY_FRAME" val="{&quot;height&quot;:343.5351181102362,&quot;left&quot;:43.12866141732283,&quot;top&quot;:93.58062992125984,&quot;width&quot;:824.3430708661417}"/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.64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14"/>
  <p:tag name="KSO_WM_UNIT_TEXT_FILL_TYPE" val="1"/>
</p:tagLst>
</file>

<file path=ppt/tags/tag29.xml><?xml version="1.0" encoding="utf-8"?>
<p:tagLst xmlns:p="http://schemas.openxmlformats.org/presentationml/2006/main">
  <p:tag name="KSO_WM_DIAGRAM_VIRTUALLY_FRAME" val="{&quot;height&quot;:343.5351181102362,&quot;left&quot;:43.12866141732283,&quot;top&quot;:93.58062992125984,&quot;width&quot;:824.3430708661417}"/>
  <p:tag name="KSO_WM_UNIT_FILL_FORE_SCHEMECOLOR_INDEX_1_BRIGHTNESS" val="0.75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"/>
  <p:tag name="KSO_WM_UNIT_FILL_FORE_SCHEMECOLOR_INDEX_2_TRANS" val="0"/>
  <p:tag name="KSO_WM_UNIT_FILL_FORE_SCHEMECOLOR_INDEX_3_BRIGHTNESS" val="-0.15"/>
  <p:tag name="KSO_WM_UNIT_FILL_FORE_SCHEMECOLOR_INDEX_3" val="6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14"/>
  <p:tag name="KSO_WM_UNIT_TEXT_FILL_TYPE" val="1"/>
</p:tagLst>
</file>

<file path=ppt/tags/tag3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"/>
  <p:tag name="KSO_WM_UNIT_TEXT_FILL_FORE_SCHEMECOLOR_INDEX_BRIGHTNESS" val="0"/>
  <p:tag name="KSO_WM_UNIT_TEXT_FILL_FORE_SCHEMECOLOR_INDEX" val="2"/>
  <p:tag name="KSO_WM_UNIT_TEXT_FILL_TYPE" val="1"/>
</p:tagLst>
</file>

<file path=ppt/tags/tag31.xml><?xml version="1.0" encoding="utf-8"?>
<p:tagLst xmlns:p="http://schemas.openxmlformats.org/presentationml/2006/main">
  <p:tag name="TABLE_ENDDRAG_ORIGIN_RECT" val="355*146"/>
  <p:tag name="TABLE_ENDDRAG_RECT" val="570*88*355*146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SLIDE_ID" val="custom20233208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208"/>
  <p:tag name="KSO_WM_SLIDE_TYPE" val="text"/>
  <p:tag name="KSO_WM_SLIDE_SUBTYPE" val="picTxt"/>
  <p:tag name="KSO_WM_SLIDE_SIZE" val="408.2*334.05"/>
  <p:tag name="KSO_WM_SLIDE_POSITION" val="484.95*15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3006_1*i*2"/>
  <p:tag name="KSO_WM_TEMPLATE_CATEGORY" val="custom"/>
  <p:tag name="KSO_WM_TEMPLATE_INDEX" val="40493006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3006_1*i*3"/>
  <p:tag name="KSO_WM_TEMPLATE_CATEGORY" val="custom"/>
  <p:tag name="KSO_WM_TEMPLATE_INDEX" val="40493006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3006_1*i*4"/>
  <p:tag name="KSO_WM_TEMPLATE_CATEGORY" val="custom"/>
  <p:tag name="KSO_WM_TEMPLATE_INDEX" val="40493006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3006_1*a*1"/>
  <p:tag name="KSO_WM_TEMPLATE_CATEGORY" val="custom"/>
  <p:tag name="KSO_WM_TEMPLATE_INDEX" val="40493006"/>
  <p:tag name="KSO_WM_UNIT_LAYERLEVEL" val="1"/>
  <p:tag name="KSO_WM_TAG_VERSION" val="3.0"/>
  <p:tag name="KSO_WM_BEAUTIFY_FLAG" val="#wm#"/>
  <p:tag name="KSO_WM_UNIT_VALUE" val="30"/>
  <p:tag name="KSO_WM_UNIT_PRESET_TEXT" val="单击添加页面的标题"/>
  <p:tag name="KSO_WM_UNIT_TEXT_TYPE" val="1"/>
</p:tagLst>
</file>

<file path=ppt/tags/tag38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40493006_1*f*1"/>
  <p:tag name="KSO_WM_TEMPLATE_CATEGORY" val="custom"/>
  <p:tag name="KSO_WM_TEMPLATE_INDEX" val="40493006"/>
  <p:tag name="KSO_WM_UNIT_LAYERLEVEL" val="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，单击此处添加文本具体内容，简明扼要地阐述您的观点。根据需要可酌情增减文字"/>
  <p:tag name="KSO_WM_UNIT_TEXT_TYPE" val="1"/>
  <p:tag name="KSO_WM_UNIT_VALUE" val="145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40493006_1*i*5"/>
  <p:tag name="KSO_WM_TEMPLATE_CATEGORY" val="custom"/>
  <p:tag name="KSO_WM_TEMPLATE_INDEX" val="40493006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40493006_1*i*6"/>
  <p:tag name="KSO_WM_TEMPLATE_CATEGORY" val="custom"/>
  <p:tag name="KSO_WM_TEMPLATE_INDEX" val="40493006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3006_1*i*1"/>
  <p:tag name="KSO_WM_TEMPLATE_CATEGORY" val="custom"/>
  <p:tag name="KSO_WM_TEMPLATE_INDEX" val="40493006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SLIDE_ID" val="custom4049300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06"/>
  <p:tag name="KSO_WM_SLIDE_TYPE" val="text"/>
  <p:tag name="KSO_WM_SLIDE_SUBTYPE" val="picTxt"/>
  <p:tag name="KSO_WM_SLIDE_SIZE" val="914*474"/>
  <p:tag name="KSO_WM_SLIDE_POSITION" val="45*31"/>
  <p:tag name="KSO_WM_SLIDE_LAYOUT" val="a_f"/>
  <p:tag name="KSO_WM_SLIDE_LAYOUT_CNT" val="1_1"/>
  <p:tag name="KSO_WM_SPECIAL_SOURCE" val="bdnull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大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28025_5*a*1"/>
  <p:tag name="KSO_WM_TEMPLATE_CATEGORY" val="diagram"/>
  <p:tag name="KSO_WM_TEMPLATE_INDEX" val="20228025"/>
  <p:tag name="KSO_WM_UNIT_LAYERLEVEL" val="1"/>
  <p:tag name="KSO_WM_TAG_VERSION" val="1.0"/>
  <p:tag name="KSO_WM_BEAUTIFY_FLAG" val=""/>
  <p:tag name="KSO_WM_UNIT_TEXT_FILL_FORE_SCHEMECOLOR_INDEX" val="9"/>
  <p:tag name="KSO_WM_UNIT_TEXT_FILL_TYPE" val="1"/>
</p:tagLst>
</file>

<file path=ppt/tags/tag61.xml><?xml version="1.0" encoding="utf-8"?>
<p:tagLst xmlns:p="http://schemas.openxmlformats.org/presentationml/2006/main">
  <p:tag name="KSO_WM_UNIT_VALUE" val="154*1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28025_5*l_h_x*1_1_1"/>
  <p:tag name="KSO_WM_TEMPLATE_CATEGORY" val="diagram"/>
  <p:tag name="KSO_WM_TEMPLATE_INDEX" val="20228025"/>
  <p:tag name="KSO_WM_UNIT_LAYERLEVEL" val="1_1_1"/>
  <p:tag name="KSO_WM_TAG_VERSION" val="1.0"/>
  <p:tag name="KSO_WM_DIAGRAM_VIRTUALLY_FRAME" val="{&quot;height&quot;:325.82511811023625,&quot;left&quot;:34.046692913385826,&quot;top&quot;:196.7863779527559,&quot;width&quot;:892.6058267716537}"/>
  <p:tag name="KSO_WM_UNIT_FILL_FORE_SCHEMECOLOR_INDEX_BRIGHTNESS" val="0"/>
  <p:tag name="KSO_WM_UNIT_FILL_FORE_SCHEMECOLOR_INDEX" val="9"/>
  <p:tag name="KSO_WM_UNIT_FILL_TYPE" val="1"/>
</p:tagLst>
</file>

<file path=ppt/tags/tag62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25_5*l_h_f*1_1_1"/>
  <p:tag name="KSO_WM_TEMPLATE_CATEGORY" val="diagram"/>
  <p:tag name="KSO_WM_TEMPLATE_INDEX" val="20228025"/>
  <p:tag name="KSO_WM_UNIT_LAYERLEVEL" val="1_1_1"/>
  <p:tag name="KSO_WM_TAG_VERSION" val="1.0"/>
  <p:tag name="KSO_WM_UNIT_TEXT_FILL_FORE_SCHEMECOLOR_INDEX" val="13"/>
  <p:tag name="KSO_WM_UNIT_TEXT_FILL_TYPE" val="1"/>
  <p:tag name="KSO_WM_DIAGRAM_VIRTUALLY_FRAME" val="{&quot;height&quot;:325.82511811023625,&quot;left&quot;:34.046692913385826,&quot;top&quot;:196.7863779527559,&quot;width&quot;:892.6058267716537}"/>
</p:tagLst>
</file>

<file path=ppt/tags/tag63.xml><?xml version="1.0" encoding="utf-8"?>
<p:tagLst xmlns:p="http://schemas.openxmlformats.org/presentationml/2006/main">
  <p:tag name="KSO_WM_UNIT_VALUE" val="154*1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28025_5*l_h_x*1_2_1"/>
  <p:tag name="KSO_WM_TEMPLATE_CATEGORY" val="diagram"/>
  <p:tag name="KSO_WM_TEMPLATE_INDEX" val="20228025"/>
  <p:tag name="KSO_WM_UNIT_LAYERLEVEL" val="1_1_1"/>
  <p:tag name="KSO_WM_TAG_VERSION" val="1.0"/>
  <p:tag name="KSO_WM_DIAGRAM_VIRTUALLY_FRAME" val="{&quot;height&quot;:325.82511811023625,&quot;left&quot;:34.046692913385826,&quot;top&quot;:196.7863779527559,&quot;width&quot;:892.6058267716537}"/>
</p:tagLst>
</file>

<file path=ppt/tags/tag64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25_5*l_h_f*1_2_1"/>
  <p:tag name="KSO_WM_TEMPLATE_CATEGORY" val="diagram"/>
  <p:tag name="KSO_WM_TEMPLATE_INDEX" val="20228025"/>
  <p:tag name="KSO_WM_UNIT_LAYERLEVEL" val="1_1_1"/>
  <p:tag name="KSO_WM_TAG_VERSION" val="1.0"/>
  <p:tag name="KSO_WM_UNIT_TEXT_FILL_FORE_SCHEMECOLOR_INDEX" val="13"/>
  <p:tag name="KSO_WM_UNIT_TEXT_FILL_TYPE" val="1"/>
  <p:tag name="KSO_WM_DIAGRAM_VIRTUALLY_FRAME" val="{&quot;height&quot;:325.82511811023625,&quot;left&quot;:34.046692913385826,&quot;top&quot;:196.7863779527559,&quot;width&quot;:892.6058267716537}"/>
</p:tagLst>
</file>

<file path=ppt/tags/tag65.xml><?xml version="1.0" encoding="utf-8"?>
<p:tagLst xmlns:p="http://schemas.openxmlformats.org/presentationml/2006/main">
  <p:tag name="KSO_WM_UNIT_VALUE" val="154*1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28025_5*l_h_x*1_3_1"/>
  <p:tag name="KSO_WM_TEMPLATE_CATEGORY" val="diagram"/>
  <p:tag name="KSO_WM_TEMPLATE_INDEX" val="20228025"/>
  <p:tag name="KSO_WM_UNIT_LAYERLEVEL" val="1_1_1"/>
  <p:tag name="KSO_WM_TAG_VERSION" val="1.0"/>
  <p:tag name="KSO_WM_DIAGRAM_VIRTUALLY_FRAME" val="{&quot;height&quot;:325.82511811023625,&quot;left&quot;:34.046692913385826,&quot;top&quot;:196.7863779527559,&quot;width&quot;:892.6058267716537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28025_5*l_h_i*1_5_1"/>
  <p:tag name="KSO_WM_TEMPLATE_CATEGORY" val="diagram"/>
  <p:tag name="KSO_WM_TEMPLATE_INDEX" val="20228025"/>
  <p:tag name="KSO_WM_UNIT_LAYERLEVEL" val="1_1_1"/>
  <p:tag name="KSO_WM_TAG_VERSION" val="1.0"/>
  <p:tag name="KSO_WM_UNIT_LINE_FORE_SCHEMECOLOR_INDEX" val="14"/>
  <p:tag name="KSO_WM_UNIT_LINE_FILL_TYPE" val="2"/>
  <p:tag name="KSO_WM_DIAGRAM_VIRTUALLY_FRAME" val="{&quot;height&quot;:325.82511811023625,&quot;left&quot;:34.046692913385826,&quot;top&quot;:196.7863779527559,&quot;width&quot;:892.6058267716537}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28025_5*l_h_i*1_4_1"/>
  <p:tag name="KSO_WM_TEMPLATE_CATEGORY" val="diagram"/>
  <p:tag name="KSO_WM_TEMPLATE_INDEX" val="20228025"/>
  <p:tag name="KSO_WM_UNIT_LAYERLEVEL" val="1_1_1"/>
  <p:tag name="KSO_WM_TAG_VERSION" val="1.0"/>
  <p:tag name="KSO_WM_UNIT_LINE_FORE_SCHEMECOLOR_INDEX" val="14"/>
  <p:tag name="KSO_WM_UNIT_LINE_FILL_TYPE" val="2"/>
  <p:tag name="KSO_WM_DIAGRAM_VIRTUALLY_FRAME" val="{&quot;height&quot;:325.82511811023625,&quot;left&quot;:34.046692913385826,&quot;top&quot;:196.7863779527559,&quot;width&quot;:892.6058267716537}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28025_5*l_i*1_1"/>
  <p:tag name="KSO_WM_TEMPLATE_CATEGORY" val="diagram"/>
  <p:tag name="KSO_WM_TEMPLATE_INDEX" val="20228025"/>
  <p:tag name="KSO_WM_UNIT_LAYERLEVEL" val="1_1"/>
  <p:tag name="KSO_WM_TAG_VERSION" val="1.0"/>
  <p:tag name="KSO_WM_DIAGRAM_VIRTUALLY_FRAME" val="{&quot;height&quot;:325.82511811023625,&quot;left&quot;:34.046692913385826,&quot;top&quot;:196.7863779527559,&quot;width&quot;:892.6058267716537}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28025_5*l_i*1_2"/>
  <p:tag name="KSO_WM_TEMPLATE_CATEGORY" val="diagram"/>
  <p:tag name="KSO_WM_TEMPLATE_INDEX" val="20228025"/>
  <p:tag name="KSO_WM_UNIT_LAYERLEVEL" val="1_1"/>
  <p:tag name="KSO_WM_TAG_VERSION" val="1.0"/>
  <p:tag name="KSO_WM_DIAGRAM_VIRTUALLY_FRAME" val="{&quot;height&quot;:325.82511811023625,&quot;left&quot;:34.046692913385826,&quot;top&quot;:196.7863779527559,&quot;width&quot;:892.6058267716537}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28025_5*l_i*1_3"/>
  <p:tag name="KSO_WM_TEMPLATE_CATEGORY" val="diagram"/>
  <p:tag name="KSO_WM_TEMPLATE_INDEX" val="20228025"/>
  <p:tag name="KSO_WM_UNIT_LAYERLEVEL" val="1_1"/>
  <p:tag name="KSO_WM_TAG_VERSION" val="1.0"/>
  <p:tag name="KSO_WM_DIAGRAM_VIRTUALLY_FRAME" val="{&quot;height&quot;:325.82511811023625,&quot;left&quot;:34.046692913385826,&quot;top&quot;:196.7863779527559,&quot;width&quot;:892.6058267716537}"/>
  <p:tag name="KSO_WM_UNIT_FILL_FORE_SCHEMECOLOR_INDEX_BRIGHTNESS" val="0"/>
  <p:tag name="KSO_WM_UNIT_FILL_FORE_SCHEMECOLOR_INDEX" val="9"/>
  <p:tag name="KSO_WM_UNIT_FILL_TYPE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diagram20228025_5*l_i*1_4"/>
  <p:tag name="KSO_WM_TEMPLATE_CATEGORY" val="diagram"/>
  <p:tag name="KSO_WM_TEMPLATE_INDEX" val="20228025"/>
  <p:tag name="KSO_WM_UNIT_LAYERLEVEL" val="1_1"/>
  <p:tag name="KSO_WM_TAG_VERSION" val="1.0"/>
  <p:tag name="KSO_WM_DIAGRAM_VIRTUALLY_FRAME" val="{&quot;height&quot;:325.82511811023625,&quot;left&quot;:34.046692913385826,&quot;top&quot;:196.7863779527559,&quot;width&quot;:892.6058267716537}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diagram20228025_5*l_i*1_5"/>
  <p:tag name="KSO_WM_TEMPLATE_CATEGORY" val="diagram"/>
  <p:tag name="KSO_WM_TEMPLATE_INDEX" val="20228025"/>
  <p:tag name="KSO_WM_UNIT_LAYERLEVEL" val="1_1"/>
  <p:tag name="KSO_WM_TAG_VERSION" val="1.0"/>
  <p:tag name="KSO_WM_DIAGRAM_VIRTUALLY_FRAME" val="{&quot;height&quot;:325.82511811023625,&quot;left&quot;:34.046692913385826,&quot;top&quot;:196.7863779527559,&quot;width&quot;:892.6058267716537}"/>
  <p:tag name="KSO_WM_UNIT_FILL_FORE_SCHEMECOLOR_INDEX_BRIGHTNESS" val="0"/>
  <p:tag name="KSO_WM_UNIT_FILL_FORE_SCHEMECOLOR_INDEX" val="8"/>
  <p:tag name="KSO_WM_UNIT_FILL_TYPE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6"/>
  <p:tag name="KSO_WM_UNIT_ID" val="diagram20228025_5*l_i*1_6"/>
  <p:tag name="KSO_WM_TEMPLATE_CATEGORY" val="diagram"/>
  <p:tag name="KSO_WM_TEMPLATE_INDEX" val="20228025"/>
  <p:tag name="KSO_WM_UNIT_LAYERLEVEL" val="1_1"/>
  <p:tag name="KSO_WM_TAG_VERSION" val="1.0"/>
  <p:tag name="KSO_WM_DIAGRAM_VIRTUALLY_FRAME" val="{&quot;height&quot;:325.82511811023625,&quot;left&quot;:34.046692913385826,&quot;top&quot;:196.7863779527559,&quot;width&quot;:892.6058267716537}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28025_5*l_h_i*1_1_1"/>
  <p:tag name="KSO_WM_TEMPLATE_CATEGORY" val="diagram"/>
  <p:tag name="KSO_WM_TEMPLATE_INDEX" val="20228025"/>
  <p:tag name="KSO_WM_UNIT_LAYERLEVEL" val="1_1_1"/>
  <p:tag name="KSO_WM_TAG_VERSION" val="1.0"/>
  <p:tag name="KSO_WM_UNIT_TEXT_FILL_FORE_SCHEMECOLOR_INDEX" val="14"/>
  <p:tag name="KSO_WM_UNIT_TEXT_FILL_TYPE" val="1"/>
  <p:tag name="KSO_WM_DIAGRAM_VIRTUALLY_FRAME" val="{&quot;height&quot;:325.82511811023625,&quot;left&quot;:34.046692913385826,&quot;top&quot;:196.7863779527559,&quot;width&quot;:892.6058267716537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28025_5*l_h_i*1_2_1"/>
  <p:tag name="KSO_WM_TEMPLATE_CATEGORY" val="diagram"/>
  <p:tag name="KSO_WM_TEMPLATE_INDEX" val="20228025"/>
  <p:tag name="KSO_WM_UNIT_LAYERLEVEL" val="1_1_1"/>
  <p:tag name="KSO_WM_TAG_VERSION" val="1.0"/>
  <p:tag name="KSO_WM_UNIT_TEXT_FILL_FORE_SCHEMECOLOR_INDEX" val="14"/>
  <p:tag name="KSO_WM_UNIT_TEXT_FILL_TYPE" val="1"/>
  <p:tag name="KSO_WM_DIAGRAM_VIRTUALLY_FRAME" val="{&quot;height&quot;:325.82511811023625,&quot;left&quot;:34.046692913385826,&quot;top&quot;:196.7863779527559,&quot;width&quot;:892.6058267716537}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28025_5*l_h_i*1_3_1"/>
  <p:tag name="KSO_WM_TEMPLATE_CATEGORY" val="diagram"/>
  <p:tag name="KSO_WM_TEMPLATE_INDEX" val="20228025"/>
  <p:tag name="KSO_WM_UNIT_LAYERLEVEL" val="1_1_1"/>
  <p:tag name="KSO_WM_TAG_VERSION" val="1.0"/>
  <p:tag name="KSO_WM_UNIT_TEXT_FILL_FORE_SCHEMECOLOR_INDEX" val="14"/>
  <p:tag name="KSO_WM_UNIT_TEXT_FILL_TYPE" val="1"/>
  <p:tag name="KSO_WM_DIAGRAM_VIRTUALLY_FRAME" val="{&quot;height&quot;:325.82511811023625,&quot;left&quot;:34.046692913385826,&quot;top&quot;:196.7863779527559,&quot;width&quot;:892.6058267716537}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28025_5*l_h_i*1_5_1"/>
  <p:tag name="KSO_WM_TEMPLATE_CATEGORY" val="diagram"/>
  <p:tag name="KSO_WM_TEMPLATE_INDEX" val="20228025"/>
  <p:tag name="KSO_WM_UNIT_LAYERLEVEL" val="1_1_1"/>
  <p:tag name="KSO_WM_TAG_VERSION" val="1.0"/>
  <p:tag name="KSO_WM_UNIT_TEXT_FILL_FORE_SCHEMECOLOR_INDEX" val="14"/>
  <p:tag name="KSO_WM_UNIT_TEXT_FILL_TYPE" val="1"/>
  <p:tag name="KSO_WM_DIAGRAM_VIRTUALLY_FRAME" val="{&quot;height&quot;:325.82511811023625,&quot;left&quot;:34.046692913385826,&quot;top&quot;:196.7863779527559,&quot;width&quot;:892.6058267716537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28025_5*l_h_i*1_4_1"/>
  <p:tag name="KSO_WM_TEMPLATE_CATEGORY" val="diagram"/>
  <p:tag name="KSO_WM_TEMPLATE_INDEX" val="20228025"/>
  <p:tag name="KSO_WM_UNIT_LAYERLEVEL" val="1_1_1"/>
  <p:tag name="KSO_WM_TAG_VERSION" val="1.0"/>
  <p:tag name="KSO_WM_UNIT_TEXT_FILL_FORE_SCHEMECOLOR_INDEX" val="14"/>
  <p:tag name="KSO_WM_UNIT_TEXT_FILL_TYPE" val="1"/>
  <p:tag name="KSO_WM_DIAGRAM_VIRTUALLY_FRAME" val="{&quot;height&quot;:325.82511811023625,&quot;left&quot;:34.046692913385826,&quot;top&quot;:196.7863779527559,&quot;width&quot;:892.6058267716537}"/>
</p:tagLst>
</file>

<file path=ppt/tags/tag79.xml><?xml version="1.0" encoding="utf-8"?>
<p:tagLst xmlns:p="http://schemas.openxmlformats.org/presentationml/2006/main">
  <p:tag name="KSO_WM_UNIT_VALUE" val="154*1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28025_5*l_h_x*1_4_1"/>
  <p:tag name="KSO_WM_TEMPLATE_CATEGORY" val="diagram"/>
  <p:tag name="KSO_WM_TEMPLATE_INDEX" val="20228025"/>
  <p:tag name="KSO_WM_UNIT_LAYERLEVEL" val="1_1_1"/>
  <p:tag name="KSO_WM_TAG_VERSION" val="1.0"/>
  <p:tag name="KSO_WM_DIAGRAM_VIRTUALLY_FRAME" val="{&quot;height&quot;:325.82511811023625,&quot;left&quot;:34.046692913385826,&quot;top&quot;:196.7863779527559,&quot;width&quot;:892.6058267716537}"/>
  <p:tag name="KSO_WM_UNIT_FILL_FORE_SCHEMECOLOR_INDEX_BRIGHTNESS" val="0"/>
  <p:tag name="KSO_WM_UNIT_FILL_FORE_SCHEMECOLOR_INDEX" val="8"/>
  <p:tag name="KSO_WM_UNIT_FILL_TYPE" val="1"/>
</p:tagLst>
</file>

<file path=ppt/tags/tag80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28025_5*l_h_f*1_4_1"/>
  <p:tag name="KSO_WM_TEMPLATE_CATEGORY" val="diagram"/>
  <p:tag name="KSO_WM_TEMPLATE_INDEX" val="20228025"/>
  <p:tag name="KSO_WM_UNIT_LAYERLEVEL" val="1_1_1"/>
  <p:tag name="KSO_WM_TAG_VERSION" val="1.0"/>
  <p:tag name="KSO_WM_UNIT_TEXT_FILL_FORE_SCHEMECOLOR_INDEX" val="13"/>
  <p:tag name="KSO_WM_UNIT_TEXT_FILL_TYPE" val="1"/>
  <p:tag name="KSO_WM_DIAGRAM_VIRTUALLY_FRAME" val="{&quot;height&quot;:325.82511811023625,&quot;left&quot;:34.046692913385826,&quot;top&quot;:196.7863779527559,&quot;width&quot;:892.6058267716537}"/>
</p:tagLst>
</file>

<file path=ppt/tags/tag81.xml><?xml version="1.0" encoding="utf-8"?>
<p:tagLst xmlns:p="http://schemas.openxmlformats.org/presentationml/2006/main">
  <p:tag name="KSO_WM_UNIT_VALUE" val="154*15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5_1"/>
  <p:tag name="KSO_WM_UNIT_ID" val="diagram20228025_5*l_h_x*1_5_1"/>
  <p:tag name="KSO_WM_TEMPLATE_CATEGORY" val="diagram"/>
  <p:tag name="KSO_WM_TEMPLATE_INDEX" val="20228025"/>
  <p:tag name="KSO_WM_UNIT_LAYERLEVEL" val="1_1_1"/>
  <p:tag name="KSO_WM_TAG_VERSION" val="1.0"/>
  <p:tag name="KSO_WM_DIAGRAM_VIRTUALLY_FRAME" val="{&quot;height&quot;:325.82511811023625,&quot;left&quot;:34.046692913385826,&quot;top&quot;:196.7863779527559,&quot;width&quot;:892.6058267716537}"/>
</p:tagLst>
</file>

<file path=ppt/tags/tag82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28025_5*l_h_f*1_5_1"/>
  <p:tag name="KSO_WM_TEMPLATE_CATEGORY" val="diagram"/>
  <p:tag name="KSO_WM_TEMPLATE_INDEX" val="20228025"/>
  <p:tag name="KSO_WM_UNIT_LAYERLEVEL" val="1_1_1"/>
  <p:tag name="KSO_WM_TAG_VERSION" val="1.0"/>
  <p:tag name="KSO_WM_UNIT_TEXT_FILL_FORE_SCHEMECOLOR_INDEX" val="13"/>
  <p:tag name="KSO_WM_UNIT_TEXT_FILL_TYPE" val="1"/>
  <p:tag name="KSO_WM_DIAGRAM_VIRTUALLY_FRAME" val="{&quot;height&quot;:325.82511811023625,&quot;left&quot;:34.046692913385826,&quot;top&quot;:196.7863779527559,&quot;width&quot;:892.6058267716537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834_1*i*1"/>
  <p:tag name="KSO_WM_TEMPLATE_CATEGORY" val="custom"/>
  <p:tag name="KSO_WM_TEMPLATE_INDEX" val="40492834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834_1*i*2"/>
  <p:tag name="KSO_WM_TEMPLATE_CATEGORY" val="custom"/>
  <p:tag name="KSO_WM_TEMPLATE_INDEX" val="40492834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TABLE_ENDDRAG_ORIGIN_RECT" val="824*437"/>
  <p:tag name="TABLE_ENDDRAG_RECT" val="66*62*824*437"/>
</p:tagLst>
</file>

<file path=ppt/tags/tag86.xml><?xml version="1.0" encoding="utf-8"?>
<p:tagLst xmlns:p="http://schemas.openxmlformats.org/presentationml/2006/main">
  <p:tag name="KSO_WM_SLIDE_ID" val="custom40492834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834"/>
  <p:tag name="KSO_WM_SLIDE_TYPE" val="text"/>
  <p:tag name="KSO_WM_SLIDE_SUBTYPE" val="diag"/>
  <p:tag name="KSO_WM_SLIDE_SIZE" val="917*495"/>
  <p:tag name="KSO_WM_SLIDE_POSITION" val="43*45"/>
  <p:tag name="KSO_WM_SLIDE_LAYOUT" val="a_β"/>
  <p:tag name="KSO_WM_SLIDE_LAYOUT_CNT" val="1_1"/>
  <p:tag name="KSO_WM_SPECIAL_SOURCE" val="bdnull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03_3*a*1"/>
  <p:tag name="KSO_WM_TEMPLATE_CATEGORY" val="diagram"/>
  <p:tag name="KSO_WM_TEMPLATE_INDEX" val="20233203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PA" val="v4.0.0"/>
  <p:tag name="KSO_WM_BEAUTIFY_FLAG" val=""/>
</p:tagLst>
</file>

<file path=ppt/tags/tag95.xml><?xml version="1.0" encoding="utf-8"?>
<p:tagLst xmlns:p="http://schemas.openxmlformats.org/presentationml/2006/main">
  <p:tag name="PA" val="v4.0.0"/>
  <p:tag name="KSO_WM_BEAUTIFY_FLAG" val=""/>
</p:tagLst>
</file>

<file path=ppt/tags/tag96.xml><?xml version="1.0" encoding="utf-8"?>
<p:tagLst xmlns:p="http://schemas.openxmlformats.org/presentationml/2006/main">
  <p:tag name="PA" val="v4.0.0"/>
  <p:tag name="KSO_WM_BEAUTIFY_FLAG" val=""/>
</p:tagLst>
</file>

<file path=ppt/tags/tag97.xml><?xml version="1.0" encoding="utf-8"?>
<p:tagLst xmlns:p="http://schemas.openxmlformats.org/presentationml/2006/main">
  <p:tag name="PA" val="v4.0.0"/>
  <p:tag name="KSO_WM_BEAUTIFY_FLAG" val=""/>
</p:tagLst>
</file>

<file path=ppt/tags/tag98.xml><?xml version="1.0" encoding="utf-8"?>
<p:tagLst xmlns:p="http://schemas.openxmlformats.org/presentationml/2006/main">
  <p:tag name="PA" val="v4.0.0"/>
  <p:tag name="KSO_WM_BEAUTIFY_FLAG" val=""/>
</p:tagLst>
</file>

<file path=ppt/tags/tag99.xml><?xml version="1.0" encoding="utf-8"?>
<p:tagLst xmlns:p="http://schemas.openxmlformats.org/presentationml/2006/main">
  <p:tag name="PA" val="v4.0.0"/>
  <p:tag name="KSO_WM_BEAUTIFY_FLAG" val=""/>
</p:tagLst>
</file>

<file path=ppt/tags/tag100.xml><?xml version="1.0" encoding="utf-8"?>
<p:tagLst xmlns:p="http://schemas.openxmlformats.org/presentationml/2006/main">
  <p:tag name="PA" val="v4.0.0"/>
  <p:tag name="KSO_WM_BEAUTIFY_FLAG" val=""/>
</p:tagLst>
</file>

<file path=ppt/tags/tag101.xml><?xml version="1.0" encoding="utf-8"?>
<p:tagLst xmlns:p="http://schemas.openxmlformats.org/presentationml/2006/main">
  <p:tag name="PA" val="v4.0.0"/>
  <p:tag name="KSO_WM_BEAUTIFY_FLAG" val=""/>
</p:tagLst>
</file>

<file path=ppt/tags/tag102.xml><?xml version="1.0" encoding="utf-8"?>
<p:tagLst xmlns:p="http://schemas.openxmlformats.org/presentationml/2006/main">
  <p:tag name="PA" val="v4.0.0"/>
  <p:tag name="KSO_WM_BEAUTIFY_FLAG" val=""/>
</p:tagLst>
</file>

<file path=ppt/tags/tag103.xml><?xml version="1.0" encoding="utf-8"?>
<p:tagLst xmlns:p="http://schemas.openxmlformats.org/presentationml/2006/main">
  <p:tag name="MH" val="20151107092138"/>
  <p:tag name="MH_LIBRARY" val="GRAPHIC"/>
  <p:tag name="MH_TYPE" val="SubTitle"/>
  <p:tag name="MH_ORDER" val="1"/>
  <p:tag name="KSO_WM_BEAUTIFY_FLAG" val=""/>
</p:tagLst>
</file>

<file path=ppt/tags/tag104.xml><?xml version="1.0" encoding="utf-8"?>
<p:tagLst xmlns:p="http://schemas.openxmlformats.org/presentationml/2006/main">
  <p:tag name="MH" val="20151107092138"/>
  <p:tag name="MH_LIBRARY" val="GRAPHIC"/>
  <p:tag name="MH_TYPE" val="SubTitle"/>
  <p:tag name="MH_ORDER" val="1"/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MH" val="20151107092138"/>
  <p:tag name="MH_LIBRARY" val="GRAPHIC"/>
  <p:tag name="MH_TYPE" val="SubTitle"/>
  <p:tag name="MH_ORDER" val="1"/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p="http://schemas.openxmlformats.org/presentationml/2006/main">
  <p:tag name="KSO_WM_SLIDE_ID" val="custom40492967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40492967"/>
  <p:tag name="KSO_WM_SLIDE_TYPE" val="text"/>
  <p:tag name="KSO_WM_SLIDE_SUBTYPE" val="picTxt"/>
  <p:tag name="KSO_WM_SLIDE_SIZE" val="864*328.5"/>
  <p:tag name="KSO_WM_SLIDE_POSITION" val="47.8*142.7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PP_MARK_KEY" val="d0f57564-d5e1-44a3-8936-9697594d2eb2"/>
  <p:tag name="COMMONDATA" val="eyJoZGlkIjoiNzVjZmVlYWE3ODRmMzVhNjAyMWNhOWI0NDY0NzJjZjgifQ=="/>
  <p:tag name="resource_record_key" val="{&quot;13&quot;:[20482067],&quot;8&quot;:[20476885]}"/>
</p:tagLst>
</file>

<file path=ppt/theme/theme1.xml><?xml version="1.0" encoding="utf-8"?>
<a:theme xmlns:a="http://schemas.openxmlformats.org/drawingml/2006/main" name="演示文稿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BFBFBF"/>
      </a:folHlink>
    </a:clrScheme>
    <a:fontScheme name="演示文稿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9525" cap="flat" cmpd="sng">
          <a:solidFill>
            <a:srgbClr val="D9D9D9"/>
          </a:solidFill>
          <a:prstDash val="solid"/>
          <a:round/>
          <a:headEnd type="none" w="med" len="med"/>
          <a:tailEnd type="none" w="med" len="med"/>
        </a:ln>
      </a:spPr>
      <a:bodyPr wrap="none" anchor="t" anchorCtr="0">
        <a:spAutoFit/>
      </a:bodyPr>
      <a:lstStyle>
        <a:defPPr marL="0" indent="457200" algn="l" eaLnBrk="1" latinLnBrk="0" hangingPunct="1">
          <a:lnSpc>
            <a:spcPct val="190000"/>
          </a:lnSpc>
          <a:buClrTx/>
          <a:buSzTx/>
          <a:buNone/>
          <a:defRPr lang="zh-CN" altLang="en-US" sz="1000" dirty="0">
            <a:ln>
              <a:noFill/>
            </a:ln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  <a:sym typeface="等线" panose="02010600030101010101" charset="-122"/>
          </a:defRPr>
        </a:defPPr>
      </a:lstStyle>
    </a:txDef>
  </a:objectDefaults>
  <a:extraClrSchemeLst>
    <a:extraClrScheme>
      <a:clrScheme name="演示文稿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演示文稿1">
  <a:themeElements>
    <a:clrScheme name="">
      <a:dk1>
        <a:srgbClr val="E3E3E3"/>
      </a:dk1>
      <a:lt1>
        <a:srgbClr val="FFFFFF"/>
      </a:lt1>
      <a:dk2>
        <a:srgbClr val="898989"/>
      </a:dk2>
      <a:lt2>
        <a:srgbClr val="FFFFFF"/>
      </a:lt2>
      <a:accent1>
        <a:srgbClr val="C81528"/>
      </a:accent1>
      <a:accent2>
        <a:srgbClr val="ED6D00"/>
      </a:accent2>
      <a:accent3>
        <a:srgbClr val="C81528"/>
      </a:accent3>
      <a:accent4>
        <a:srgbClr val="BF604C"/>
      </a:accent4>
      <a:accent5>
        <a:srgbClr val="846E4F"/>
      </a:accent5>
      <a:accent6>
        <a:srgbClr val="898989"/>
      </a:accent6>
      <a:hlink>
        <a:srgbClr val="E3E3E3"/>
      </a:hlink>
      <a:folHlink>
        <a:srgbClr val="BFBFBF"/>
      </a:folHlink>
    </a:clrScheme>
    <a:fontScheme name="演示文稿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9525" cap="flat" cmpd="sng">
          <a:solidFill>
            <a:srgbClr val="D9D9D9"/>
          </a:solidFill>
          <a:prstDash val="solid"/>
          <a:round/>
          <a:headEnd type="none" w="med" len="med"/>
          <a:tailEnd type="none" w="med" len="med"/>
        </a:ln>
      </a:spPr>
      <a:bodyPr wrap="none" anchor="t" anchorCtr="0">
        <a:spAutoFit/>
      </a:bodyPr>
      <a:lstStyle>
        <a:defPPr marL="0" indent="457200" algn="l" eaLnBrk="1" latinLnBrk="0" hangingPunct="1">
          <a:lnSpc>
            <a:spcPct val="190000"/>
          </a:lnSpc>
          <a:buClrTx/>
          <a:buSzTx/>
          <a:buNone/>
          <a:defRPr lang="zh-CN" altLang="en-US" sz="1000" dirty="0">
            <a:ln>
              <a:noFill/>
            </a:ln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  <a:sym typeface="等线" panose="02010600030101010101" charset="-122"/>
          </a:defRPr>
        </a:defPPr>
      </a:lstStyle>
    </a:txDef>
  </a:objectDefaults>
  <a:extraClrSchemeLst>
    <a:extraClrScheme>
      <a:clrScheme name="演示文稿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演示文稿1">
  <a:themeElements>
    <a:clrScheme name="">
      <a:dk1>
        <a:srgbClr val="E3E3E3"/>
      </a:dk1>
      <a:lt1>
        <a:srgbClr val="FFFFFF"/>
      </a:lt1>
      <a:dk2>
        <a:srgbClr val="898989"/>
      </a:dk2>
      <a:lt2>
        <a:srgbClr val="FFFFFF"/>
      </a:lt2>
      <a:accent1>
        <a:srgbClr val="C81528"/>
      </a:accent1>
      <a:accent2>
        <a:srgbClr val="ED6D00"/>
      </a:accent2>
      <a:accent3>
        <a:srgbClr val="C81528"/>
      </a:accent3>
      <a:accent4>
        <a:srgbClr val="BF604C"/>
      </a:accent4>
      <a:accent5>
        <a:srgbClr val="846E4F"/>
      </a:accent5>
      <a:accent6>
        <a:srgbClr val="898989"/>
      </a:accent6>
      <a:hlink>
        <a:srgbClr val="E3E3E3"/>
      </a:hlink>
      <a:folHlink>
        <a:srgbClr val="BFBFBF"/>
      </a:folHlink>
    </a:clrScheme>
    <a:fontScheme name="演示文稿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9525" cap="flat" cmpd="sng">
          <a:solidFill>
            <a:srgbClr val="D9D9D9"/>
          </a:solidFill>
          <a:prstDash val="solid"/>
          <a:round/>
          <a:headEnd type="none" w="med" len="med"/>
          <a:tailEnd type="none" w="med" len="med"/>
        </a:ln>
      </a:spPr>
      <a:bodyPr wrap="none" anchor="t" anchorCtr="0">
        <a:spAutoFit/>
      </a:bodyPr>
      <a:lstStyle>
        <a:defPPr marL="0" indent="457200" algn="l" eaLnBrk="1" latinLnBrk="0" hangingPunct="1">
          <a:lnSpc>
            <a:spcPct val="190000"/>
          </a:lnSpc>
          <a:buClrTx/>
          <a:buSzTx/>
          <a:buNone/>
          <a:defRPr lang="zh-CN" altLang="en-US" sz="1000" dirty="0">
            <a:ln>
              <a:noFill/>
            </a:ln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  <a:sym typeface="等线" panose="02010600030101010101" charset="-122"/>
          </a:defRPr>
        </a:defPPr>
      </a:lstStyle>
    </a:txDef>
  </a:objectDefaults>
  <a:extraClrSchemeLst>
    <a:extraClrScheme>
      <a:clrScheme name="演示文稿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58">
    <a:dk1>
      <a:srgbClr val="000000"/>
    </a:dk1>
    <a:lt1>
      <a:srgbClr val="FFFFFF"/>
    </a:lt1>
    <a:dk2>
      <a:srgbClr val="44546A"/>
    </a:dk2>
    <a:lt2>
      <a:srgbClr val="E7E6E6"/>
    </a:lt2>
    <a:accent1>
      <a:srgbClr val="FF9205"/>
    </a:accent1>
    <a:accent2>
      <a:srgbClr val="EF534C"/>
    </a:accent2>
    <a:accent3>
      <a:srgbClr val="5DB020"/>
    </a:accent3>
    <a:accent4>
      <a:srgbClr val="468ED8"/>
    </a:accent4>
    <a:accent5>
      <a:srgbClr val="7058CA"/>
    </a:accent5>
    <a:accent6>
      <a:srgbClr val="C358CA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4014</Words>
  <Application>WPS 演示</Application>
  <PresentationFormat>自定义</PresentationFormat>
  <Paragraphs>560</Paragraphs>
  <Slides>19</Slides>
  <Notes>90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19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等线</vt:lpstr>
      <vt:lpstr>Arial</vt:lpstr>
      <vt:lpstr>Microsoft YaHei UI</vt:lpstr>
      <vt:lpstr>Calibri</vt:lpstr>
      <vt:lpstr>Wingdings</vt:lpstr>
      <vt:lpstr>华文细黑</vt:lpstr>
      <vt:lpstr>HarmonyOS Sans SC Light</vt:lpstr>
      <vt:lpstr>HarmonyOS Sans SC Black</vt:lpstr>
      <vt:lpstr>Open Sans</vt:lpstr>
      <vt:lpstr>思源黑体 CN Bold</vt:lpstr>
      <vt:lpstr>黑体</vt:lpstr>
      <vt:lpstr>Lato Light</vt:lpstr>
      <vt:lpstr>Segoe Print</vt:lpstr>
      <vt:lpstr>思源黑体 Light</vt:lpstr>
      <vt:lpstr>仿宋_GB2312</vt:lpstr>
      <vt:lpstr>Noto Sans SC</vt:lpstr>
      <vt:lpstr>Arial Unicode MS</vt:lpstr>
      <vt:lpstr>仿宋</vt:lpstr>
      <vt:lpstr>演示文稿1</vt:lpstr>
      <vt:lpstr>2_演示文稿1</vt:lpstr>
      <vt:lpstr>1_演示文稿1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规划</dc:title>
  <dc:creator>lenovo</dc:creator>
  <cp:lastModifiedBy>四叶草</cp:lastModifiedBy>
  <cp:revision>22595</cp:revision>
  <cp:lastPrinted>2023-04-18T08:32:00Z</cp:lastPrinted>
  <dcterms:created xsi:type="dcterms:W3CDTF">2023-04-18T08:32:00Z</dcterms:created>
  <dcterms:modified xsi:type="dcterms:W3CDTF">2026-02-25T01:46:32Z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28A0A1FA9C044166B869EB94BFC97DDE_13</vt:lpwstr>
  </property>
</Properties>
</file>